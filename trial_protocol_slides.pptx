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280160"/>
            <a:ext cx="10058400" cy="548640"/>
          </a:xfrm>
          <a:prstGeom prst="rect">
            <a:avLst/>
          </a:prstGeom>
          <a:noFill/>
        </p:spPr>
        <p:txBody>
          <a:bodyPr wrap="square">
            <a:spAutoFit/>
          </a:bodyPr>
          <a:lstStyle/>
          <a:p>
            <a:pPr algn="l"/>
            <a:r>
              <a:rPr sz="3400" b="1">
                <a:solidFill>
                  <a:srgbClr val="FFFFFF"/>
                </a:solidFill>
                <a:latin typeface="Calibri"/>
              </a:rPr>
              <a:t>Protocol Intelligence Report</a:t>
            </a:r>
          </a:p>
        </p:txBody>
      </p:sp>
      <p:sp>
        <p:nvSpPr>
          <p:cNvPr id="5" name="TextBox 4"/>
          <p:cNvSpPr txBox="1"/>
          <p:nvPr/>
        </p:nvSpPr>
        <p:spPr>
          <a:xfrm>
            <a:off x="365760" y="1965960"/>
            <a:ext cx="10058400" cy="457200"/>
          </a:xfrm>
          <a:prstGeom prst="rect">
            <a:avLst/>
          </a:prstGeom>
          <a:noFill/>
        </p:spPr>
        <p:txBody>
          <a:bodyPr wrap="square">
            <a:spAutoFit/>
          </a:bodyPr>
          <a:lstStyle/>
          <a:p>
            <a:pPr algn="l"/>
            <a:r>
              <a:rPr sz="1500" b="0">
                <a:solidFill>
                  <a:srgbClr val="B0C4D8"/>
                </a:solidFill>
                <a:latin typeface="Calibri"/>
              </a:rPr>
              <a:t>Clinical Trial Design Benchmarking &amp; Decision-Grade Evidence</a:t>
            </a:r>
          </a:p>
        </p:txBody>
      </p:sp>
      <p:sp>
        <p:nvSpPr>
          <p:cNvPr id="6" name="Rectangle 5"/>
          <p:cNvSpPr/>
          <p:nvPr/>
        </p:nvSpPr>
        <p:spPr>
          <a:xfrm>
            <a:off x="365760" y="2606040"/>
            <a:ext cx="9601200" cy="19050"/>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2834640"/>
            <a:ext cx="10058400" cy="347472"/>
          </a:xfrm>
          <a:prstGeom prst="rect">
            <a:avLst/>
          </a:prstGeom>
          <a:noFill/>
        </p:spPr>
        <p:txBody>
          <a:bodyPr wrap="square">
            <a:spAutoFit/>
          </a:bodyPr>
          <a:lstStyle/>
          <a:p>
            <a:pPr algn="l"/>
            <a:r>
              <a:rPr sz="1100" b="0">
                <a:solidFill>
                  <a:srgbClr val="D0E4F0"/>
                </a:solidFill>
                <a:latin typeface="Calibri"/>
              </a:rPr>
              <a:t>Protocol:  A Randomized, Double -blind, Single Dose, 2 -way Crossover Study to Assess Bronchospasm Potentially Induced by the Hydrofluoroolefin (HFO) Metered Dose Inhaler (MDI) Propellant as Compared with the Hydrofluoroalkane (HFA) MDI Propellant in Participants with Asthma, Well Controlled or Partially Controlled on Short -acting beta 2-agonists (SABA) with or without Low -Dose Inhaled Corticosteroids (ICS)</a:t>
            </a:r>
          </a:p>
        </p:txBody>
      </p:sp>
      <p:sp>
        <p:nvSpPr>
          <p:cNvPr id="8" name="TextBox 7"/>
          <p:cNvSpPr txBox="1"/>
          <p:nvPr/>
        </p:nvSpPr>
        <p:spPr>
          <a:xfrm>
            <a:off x="365760" y="3218688"/>
            <a:ext cx="10058400" cy="347472"/>
          </a:xfrm>
          <a:prstGeom prst="rect">
            <a:avLst/>
          </a:prstGeom>
          <a:noFill/>
        </p:spPr>
        <p:txBody>
          <a:bodyPr wrap="square">
            <a:spAutoFit/>
          </a:bodyPr>
          <a:lstStyle/>
          <a:p>
            <a:pPr algn="l"/>
            <a:r>
              <a:rPr sz="1100" b="0">
                <a:solidFill>
                  <a:srgbClr val="D0E4F0"/>
                </a:solidFill>
                <a:latin typeface="Calibri"/>
              </a:rPr>
              <a:t>Condition: Asthma</a:t>
            </a:r>
          </a:p>
        </p:txBody>
      </p:sp>
      <p:sp>
        <p:nvSpPr>
          <p:cNvPr id="9" name="TextBox 8"/>
          <p:cNvSpPr txBox="1"/>
          <p:nvPr/>
        </p:nvSpPr>
        <p:spPr>
          <a:xfrm>
            <a:off x="365760" y="3602736"/>
            <a:ext cx="10058400" cy="347472"/>
          </a:xfrm>
          <a:prstGeom prst="rect">
            <a:avLst/>
          </a:prstGeom>
          <a:noFill/>
        </p:spPr>
        <p:txBody>
          <a:bodyPr wrap="square">
            <a:spAutoFit/>
          </a:bodyPr>
          <a:lstStyle/>
          <a:p>
            <a:pPr algn="l"/>
            <a:r>
              <a:rPr sz="1100" b="0">
                <a:solidFill>
                  <a:srgbClr val="D0E4F0"/>
                </a:solidFill>
                <a:latin typeface="Calibri"/>
              </a:rPr>
              <a:t>Sponsor:   AstraZeneca AB</a:t>
            </a:r>
          </a:p>
        </p:txBody>
      </p:sp>
      <p:sp>
        <p:nvSpPr>
          <p:cNvPr id="10" name="TextBox 9"/>
          <p:cNvSpPr txBox="1"/>
          <p:nvPr/>
        </p:nvSpPr>
        <p:spPr>
          <a:xfrm>
            <a:off x="365760" y="3986784"/>
            <a:ext cx="10058400" cy="347472"/>
          </a:xfrm>
          <a:prstGeom prst="rect">
            <a:avLst/>
          </a:prstGeom>
          <a:noFill/>
        </p:spPr>
        <p:txBody>
          <a:bodyPr wrap="square">
            <a:spAutoFit/>
          </a:bodyPr>
          <a:lstStyle/>
          <a:p>
            <a:pPr algn="l"/>
            <a:r>
              <a:rPr sz="1100" b="0">
                <a:solidFill>
                  <a:srgbClr val="D0E4F0"/>
                </a:solidFill>
                <a:latin typeface="Calibri"/>
              </a:rPr>
              <a:t>Phase:     Phase 3b  |  Study type: Interventional</a:t>
            </a:r>
          </a:p>
        </p:txBody>
      </p:sp>
      <p:sp>
        <p:nvSpPr>
          <p:cNvPr id="11" name="TextBox 10"/>
          <p:cNvSpPr txBox="1"/>
          <p:nvPr/>
        </p:nvSpPr>
        <p:spPr>
          <a:xfrm>
            <a:off x="365760" y="4370832"/>
            <a:ext cx="10058400" cy="347472"/>
          </a:xfrm>
          <a:prstGeom prst="rect">
            <a:avLst/>
          </a:prstGeom>
          <a:noFill/>
        </p:spPr>
        <p:txBody>
          <a:bodyPr wrap="square">
            <a:spAutoFit/>
          </a:bodyPr>
          <a:lstStyle/>
          <a:p>
            <a:pPr algn="l"/>
            <a:r>
              <a:rPr sz="1100" b="0">
                <a:solidFill>
                  <a:srgbClr val="D0E4F0"/>
                </a:solidFill>
                <a:latin typeface="Calibri"/>
              </a:rPr>
              <a:t>Generated: 2026-03-19T18:05:11.302573Z UTC</a:t>
            </a:r>
          </a:p>
        </p:txBody>
      </p:sp>
      <p:sp>
        <p:nvSpPr>
          <p:cNvPr id="12" name="TextBox 11"/>
          <p:cNvSpPr txBox="1"/>
          <p:nvPr/>
        </p:nvSpPr>
        <p:spPr>
          <a:xfrm>
            <a:off x="365760" y="6309360"/>
            <a:ext cx="10972800" cy="274320"/>
          </a:xfrm>
          <a:prstGeom prst="rect">
            <a:avLst/>
          </a:prstGeom>
          <a:noFill/>
        </p:spPr>
        <p:txBody>
          <a:bodyPr wrap="square">
            <a:spAutoFit/>
          </a:bodyPr>
          <a:lstStyle/>
          <a:p>
            <a:pPr algn="l"/>
            <a:r>
              <a:rPr sz="800" b="0">
                <a:solidFill>
                  <a:srgbClr val="5F6B7A"/>
                </a:solidFill>
                <a:latin typeface="Calibri"/>
              </a:rPr>
              <a:t>Confidential — prepared for clinical development, trial design, and operational planning review.</a:t>
            </a:r>
          </a:p>
        </p:txBody>
      </p:sp>
      <p:sp>
        <p:nvSpPr>
          <p:cNvPr id="13" name="TextBox 12"/>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14" name="TextBox 13"/>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Executive Summary</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Top-line read on precedent posture, evidence strength, and lead actions</a:t>
            </a:r>
          </a:p>
        </p:txBody>
      </p:sp>
      <p:sp>
        <p:nvSpPr>
          <p:cNvPr id="5" name="Rectangle 4"/>
          <p:cNvSpPr/>
          <p:nvPr/>
        </p:nvSpPr>
        <p:spPr>
          <a:xfrm>
            <a:off x="274320" y="914400"/>
            <a:ext cx="2743200" cy="1005840"/>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960120"/>
            <a:ext cx="2560320" cy="365760"/>
          </a:xfrm>
          <a:prstGeom prst="rect">
            <a:avLst/>
          </a:prstGeom>
          <a:noFill/>
        </p:spPr>
        <p:txBody>
          <a:bodyPr wrap="square">
            <a:spAutoFit/>
          </a:bodyPr>
          <a:lstStyle/>
          <a:p>
            <a:pPr algn="l"/>
            <a:r>
              <a:rPr sz="900" b="0">
                <a:solidFill>
                  <a:srgbClr val="FFFFFF"/>
                </a:solidFill>
                <a:latin typeface="Calibri"/>
              </a:rPr>
              <a:t>Cohort size</a:t>
            </a:r>
          </a:p>
        </p:txBody>
      </p:sp>
      <p:sp>
        <p:nvSpPr>
          <p:cNvPr id="7" name="TextBox 6"/>
          <p:cNvSpPr txBox="1"/>
          <p:nvPr/>
        </p:nvSpPr>
        <p:spPr>
          <a:xfrm>
            <a:off x="365760" y="1325880"/>
            <a:ext cx="2560320" cy="502920"/>
          </a:xfrm>
          <a:prstGeom prst="rect">
            <a:avLst/>
          </a:prstGeom>
          <a:noFill/>
        </p:spPr>
        <p:txBody>
          <a:bodyPr wrap="square">
            <a:spAutoFit/>
          </a:bodyPr>
          <a:lstStyle/>
          <a:p>
            <a:pPr algn="l"/>
            <a:r>
              <a:rPr sz="1800" b="1">
                <a:solidFill>
                  <a:srgbClr val="FFFFFF"/>
                </a:solidFill>
                <a:latin typeface="Calibri"/>
              </a:rPr>
              <a:t>972</a:t>
            </a:r>
          </a:p>
        </p:txBody>
      </p:sp>
      <p:sp>
        <p:nvSpPr>
          <p:cNvPr id="8" name="Rectangle 7"/>
          <p:cNvSpPr/>
          <p:nvPr/>
        </p:nvSpPr>
        <p:spPr>
          <a:xfrm>
            <a:off x="3246120" y="914400"/>
            <a:ext cx="2743200" cy="1005840"/>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37560" y="960120"/>
            <a:ext cx="2560320" cy="365760"/>
          </a:xfrm>
          <a:prstGeom prst="rect">
            <a:avLst/>
          </a:prstGeom>
          <a:noFill/>
        </p:spPr>
        <p:txBody>
          <a:bodyPr wrap="square">
            <a:spAutoFit/>
          </a:bodyPr>
          <a:lstStyle/>
          <a:p>
            <a:pPr algn="l"/>
            <a:r>
              <a:rPr sz="900" b="0">
                <a:solidFill>
                  <a:srgbClr val="FFFFFF"/>
                </a:solidFill>
                <a:latin typeface="Calibri"/>
              </a:rPr>
              <a:t>Completed fit</a:t>
            </a:r>
          </a:p>
        </p:txBody>
      </p:sp>
      <p:sp>
        <p:nvSpPr>
          <p:cNvPr id="10" name="TextBox 9"/>
          <p:cNvSpPr txBox="1"/>
          <p:nvPr/>
        </p:nvSpPr>
        <p:spPr>
          <a:xfrm>
            <a:off x="3337560" y="1325880"/>
            <a:ext cx="2560320" cy="502920"/>
          </a:xfrm>
          <a:prstGeom prst="rect">
            <a:avLst/>
          </a:prstGeom>
          <a:noFill/>
        </p:spPr>
        <p:txBody>
          <a:bodyPr wrap="square">
            <a:spAutoFit/>
          </a:bodyPr>
          <a:lstStyle/>
          <a:p>
            <a:pPr algn="l"/>
            <a:r>
              <a:rPr sz="1800" b="1">
                <a:solidFill>
                  <a:srgbClr val="FFFFFF"/>
                </a:solidFill>
                <a:latin typeface="Calibri"/>
              </a:rPr>
              <a:t>39.4%</a:t>
            </a:r>
          </a:p>
        </p:txBody>
      </p:sp>
      <p:sp>
        <p:nvSpPr>
          <p:cNvPr id="11" name="Rectangle 10"/>
          <p:cNvSpPr/>
          <p:nvPr/>
        </p:nvSpPr>
        <p:spPr>
          <a:xfrm>
            <a:off x="6217920" y="914400"/>
            <a:ext cx="2743200" cy="1005840"/>
          </a:xfrm>
          <a:prstGeom prst="rect">
            <a:avLst/>
          </a:prstGeom>
          <a:solidFill>
            <a:srgbClr val="C05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960120"/>
            <a:ext cx="2560320" cy="365760"/>
          </a:xfrm>
          <a:prstGeom prst="rect">
            <a:avLst/>
          </a:prstGeom>
          <a:noFill/>
        </p:spPr>
        <p:txBody>
          <a:bodyPr wrap="square">
            <a:spAutoFit/>
          </a:bodyPr>
          <a:lstStyle/>
          <a:p>
            <a:pPr algn="l"/>
            <a:r>
              <a:rPr sz="900" b="0">
                <a:solidFill>
                  <a:srgbClr val="FFFFFF"/>
                </a:solidFill>
                <a:latin typeface="Calibri"/>
              </a:rPr>
              <a:t>Disrupted fit</a:t>
            </a:r>
          </a:p>
        </p:txBody>
      </p:sp>
      <p:sp>
        <p:nvSpPr>
          <p:cNvPr id="13" name="TextBox 12"/>
          <p:cNvSpPr txBox="1"/>
          <p:nvPr/>
        </p:nvSpPr>
        <p:spPr>
          <a:xfrm>
            <a:off x="6309360" y="1325880"/>
            <a:ext cx="2560320" cy="502920"/>
          </a:xfrm>
          <a:prstGeom prst="rect">
            <a:avLst/>
          </a:prstGeom>
          <a:noFill/>
        </p:spPr>
        <p:txBody>
          <a:bodyPr wrap="square">
            <a:spAutoFit/>
          </a:bodyPr>
          <a:lstStyle/>
          <a:p>
            <a:pPr algn="l"/>
            <a:r>
              <a:rPr sz="1800" b="1">
                <a:solidFill>
                  <a:srgbClr val="FFFFFF"/>
                </a:solidFill>
                <a:latin typeface="Calibri"/>
              </a:rPr>
              <a:t>41.4%</a:t>
            </a:r>
          </a:p>
        </p:txBody>
      </p:sp>
      <p:sp>
        <p:nvSpPr>
          <p:cNvPr id="14" name="Rectangle 13"/>
          <p:cNvSpPr/>
          <p:nvPr/>
        </p:nvSpPr>
        <p:spPr>
          <a:xfrm>
            <a:off x="9189720" y="914400"/>
            <a:ext cx="2743200" cy="100584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81160" y="960120"/>
            <a:ext cx="2560320" cy="365760"/>
          </a:xfrm>
          <a:prstGeom prst="rect">
            <a:avLst/>
          </a:prstGeom>
          <a:noFill/>
        </p:spPr>
        <p:txBody>
          <a:bodyPr wrap="square">
            <a:spAutoFit/>
          </a:bodyPr>
          <a:lstStyle/>
          <a:p>
            <a:pPr algn="l"/>
            <a:r>
              <a:rPr sz="900" b="0">
                <a:solidFill>
                  <a:srgbClr val="FFFFFF"/>
                </a:solidFill>
                <a:latin typeface="Calibri"/>
              </a:rPr>
              <a:t>Evidence</a:t>
            </a:r>
          </a:p>
        </p:txBody>
      </p:sp>
      <p:sp>
        <p:nvSpPr>
          <p:cNvPr id="16" name="TextBox 15"/>
          <p:cNvSpPr txBox="1"/>
          <p:nvPr/>
        </p:nvSpPr>
        <p:spPr>
          <a:xfrm>
            <a:off x="9281160" y="1325880"/>
            <a:ext cx="2560320" cy="502920"/>
          </a:xfrm>
          <a:prstGeom prst="rect">
            <a:avLst/>
          </a:prstGeom>
          <a:noFill/>
        </p:spPr>
        <p:txBody>
          <a:bodyPr wrap="square">
            <a:spAutoFit/>
          </a:bodyPr>
          <a:lstStyle/>
          <a:p>
            <a:pPr algn="l"/>
            <a:r>
              <a:rPr sz="1800" b="1">
                <a:solidFill>
                  <a:srgbClr val="FFFFFF"/>
                </a:solidFill>
                <a:latin typeface="Calibri"/>
              </a:rPr>
              <a:t>Strong</a:t>
            </a:r>
          </a:p>
        </p:txBody>
      </p:sp>
      <p:sp>
        <p:nvSpPr>
          <p:cNvPr id="17" name="TextBox 16"/>
          <p:cNvSpPr txBox="1"/>
          <p:nvPr/>
        </p:nvSpPr>
        <p:spPr>
          <a:xfrm>
            <a:off x="274320" y="2057400"/>
            <a:ext cx="11430000" cy="320040"/>
          </a:xfrm>
          <a:prstGeom prst="rect">
            <a:avLst/>
          </a:prstGeom>
          <a:noFill/>
        </p:spPr>
        <p:txBody>
          <a:bodyPr wrap="square">
            <a:spAutoFit/>
          </a:bodyPr>
          <a:lstStyle/>
          <a:p>
            <a:pPr algn="l"/>
            <a:r>
              <a:rPr sz="1300" b="1">
                <a:solidFill>
                  <a:srgbClr val="15324A"/>
                </a:solidFill>
                <a:latin typeface="Calibri"/>
              </a:rPr>
              <a:t>Overall posture: Mixed precedent posture</a:t>
            </a:r>
          </a:p>
        </p:txBody>
      </p:sp>
      <p:sp>
        <p:nvSpPr>
          <p:cNvPr id="18" name="Rectangle 17"/>
          <p:cNvSpPr/>
          <p:nvPr/>
        </p:nvSpPr>
        <p:spPr>
          <a:xfrm>
            <a:off x="274320" y="2468880"/>
            <a:ext cx="54864" cy="201168"/>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450592"/>
            <a:ext cx="11155680" cy="292608"/>
          </a:xfrm>
          <a:prstGeom prst="rect">
            <a:avLst/>
          </a:prstGeom>
          <a:noFill/>
        </p:spPr>
        <p:txBody>
          <a:bodyPr wrap="square">
            <a:spAutoFit/>
          </a:bodyPr>
          <a:lstStyle/>
          <a:p>
            <a:pPr algn="l"/>
            <a:r>
              <a:rPr sz="1000" b="0">
                <a:solidFill>
                  <a:srgbClr val="15324A"/>
                </a:solidFill>
                <a:latin typeface="Calibri"/>
              </a:rPr>
              <a:t>Protocol: A Randomized, Double -blind, Single Dose, 2 -way Crossover Study to Assess Bronchospasm Potentially Induced by the Hydrofluoroolefin (HFO) Metered Dose Inhaler (MDI) Propellant as Compared with the Hydrofluoroalkane (HFA) MDI Propellant in Participants with Asthma, Well Controlled or Partially Controlled on Short -acting beta 2-agonists (SABA) with or without Low -Dose Inhaled Corticosteroids (ICS)</a:t>
            </a:r>
          </a:p>
        </p:txBody>
      </p:sp>
      <p:sp>
        <p:nvSpPr>
          <p:cNvPr id="20" name="Rectangle 19"/>
          <p:cNvSpPr/>
          <p:nvPr/>
        </p:nvSpPr>
        <p:spPr>
          <a:xfrm>
            <a:off x="274320" y="2816352"/>
            <a:ext cx="54864" cy="201168"/>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2798064"/>
            <a:ext cx="11155680" cy="292608"/>
          </a:xfrm>
          <a:prstGeom prst="rect">
            <a:avLst/>
          </a:prstGeom>
          <a:noFill/>
        </p:spPr>
        <p:txBody>
          <a:bodyPr wrap="square">
            <a:spAutoFit/>
          </a:bodyPr>
          <a:lstStyle/>
          <a:p>
            <a:pPr algn="l"/>
            <a:r>
              <a:rPr sz="1000" b="0">
                <a:solidFill>
                  <a:srgbClr val="15324A"/>
                </a:solidFill>
                <a:latin typeface="Calibri"/>
              </a:rPr>
              <a:t>Clinical focus: Asthma</a:t>
            </a:r>
          </a:p>
        </p:txBody>
      </p:sp>
      <p:sp>
        <p:nvSpPr>
          <p:cNvPr id="22" name="Rectangle 21"/>
          <p:cNvSpPr/>
          <p:nvPr/>
        </p:nvSpPr>
        <p:spPr>
          <a:xfrm>
            <a:off x="274320" y="3163824"/>
            <a:ext cx="54864" cy="201168"/>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3145536"/>
            <a:ext cx="11155680" cy="292608"/>
          </a:xfrm>
          <a:prstGeom prst="rect">
            <a:avLst/>
          </a:prstGeom>
          <a:noFill/>
        </p:spPr>
        <p:txBody>
          <a:bodyPr wrap="square">
            <a:spAutoFit/>
          </a:bodyPr>
          <a:lstStyle/>
          <a:p>
            <a:pPr algn="l"/>
            <a:r>
              <a:rPr sz="1000" b="0">
                <a:solidFill>
                  <a:srgbClr val="15324A"/>
                </a:solidFill>
                <a:latin typeface="Calibri"/>
              </a:rPr>
              <a:t>Design fit vs completed precedent: 39.4%  |  vs disrupted: 41.4%</a:t>
            </a:r>
          </a:p>
        </p:txBody>
      </p:sp>
      <p:sp>
        <p:nvSpPr>
          <p:cNvPr id="24" name="Rectangle 23"/>
          <p:cNvSpPr/>
          <p:nvPr/>
        </p:nvSpPr>
        <p:spPr>
          <a:xfrm>
            <a:off x="274320" y="3511296"/>
            <a:ext cx="54864" cy="201168"/>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493008"/>
            <a:ext cx="11155680" cy="292608"/>
          </a:xfrm>
          <a:prstGeom prst="rect">
            <a:avLst/>
          </a:prstGeom>
          <a:noFill/>
        </p:spPr>
        <p:txBody>
          <a:bodyPr wrap="square">
            <a:spAutoFit/>
          </a:bodyPr>
          <a:lstStyle/>
          <a:p>
            <a:pPr algn="l"/>
            <a:r>
              <a:rPr sz="1000" b="0">
                <a:solidFill>
                  <a:srgbClr val="15324A"/>
                </a:solidFill>
                <a:latin typeface="Calibri"/>
              </a:rPr>
              <a:t>[Monitor] No strong design outlier was detected in the current benchmark snapshot.</a:t>
            </a:r>
          </a:p>
        </p:txBody>
      </p:sp>
      <p:sp>
        <p:nvSpPr>
          <p:cNvPr id="26" name="TextBox 25"/>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27" name="TextBox 26"/>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Precedent Posture</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How the draft design compares to completed vs disrupted trial precedent</a:t>
            </a:r>
          </a:p>
        </p:txBody>
      </p:sp>
      <p:pic>
        <p:nvPicPr>
          <p:cNvPr id="5" name="Picture 4" descr="image.png"/>
          <p:cNvPicPr>
            <a:picLocks noChangeAspect="1"/>
          </p:cNvPicPr>
          <p:nvPr/>
        </p:nvPicPr>
        <p:blipFill>
          <a:blip r:embed="rId2"/>
          <a:stretch>
            <a:fillRect/>
          </a:stretch>
        </p:blipFill>
        <p:spPr>
          <a:xfrm>
            <a:off x="274320" y="914400"/>
            <a:ext cx="5029200" cy="3200400"/>
          </a:xfrm>
          <a:prstGeom prst="rect">
            <a:avLst/>
          </a:prstGeom>
        </p:spPr>
      </p:pic>
      <p:sp>
        <p:nvSpPr>
          <p:cNvPr id="6" name="Rectangle 5"/>
          <p:cNvSpPr/>
          <p:nvPr/>
        </p:nvSpPr>
        <p:spPr>
          <a:xfrm>
            <a:off x="5669280" y="1005840"/>
            <a:ext cx="914400" cy="502920"/>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1078992"/>
            <a:ext cx="822960" cy="320040"/>
          </a:xfrm>
          <a:prstGeom prst="rect">
            <a:avLst/>
          </a:prstGeom>
          <a:noFill/>
        </p:spPr>
        <p:txBody>
          <a:bodyPr wrap="square">
            <a:spAutoFit/>
          </a:bodyPr>
          <a:lstStyle/>
          <a:p>
            <a:pPr algn="ctr"/>
            <a:r>
              <a:rPr sz="1400" b="1">
                <a:solidFill>
                  <a:srgbClr val="FFFFFF"/>
                </a:solidFill>
                <a:latin typeface="Calibri"/>
              </a:rPr>
              <a:t>39.4%</a:t>
            </a:r>
          </a:p>
        </p:txBody>
      </p:sp>
      <p:sp>
        <p:nvSpPr>
          <p:cNvPr id="8" name="TextBox 7"/>
          <p:cNvSpPr txBox="1"/>
          <p:nvPr/>
        </p:nvSpPr>
        <p:spPr>
          <a:xfrm>
            <a:off x="6675120" y="1097280"/>
            <a:ext cx="5029200" cy="320040"/>
          </a:xfrm>
          <a:prstGeom prst="rect">
            <a:avLst/>
          </a:prstGeom>
          <a:noFill/>
        </p:spPr>
        <p:txBody>
          <a:bodyPr wrap="square">
            <a:spAutoFit/>
          </a:bodyPr>
          <a:lstStyle/>
          <a:p>
            <a:pPr algn="l"/>
            <a:r>
              <a:rPr sz="1100" b="0">
                <a:solidFill>
                  <a:srgbClr val="15324A"/>
                </a:solidFill>
                <a:latin typeface="Calibri"/>
              </a:rPr>
              <a:t>Completed fit</a:t>
            </a:r>
          </a:p>
        </p:txBody>
      </p:sp>
      <p:sp>
        <p:nvSpPr>
          <p:cNvPr id="9" name="Rectangle 8"/>
          <p:cNvSpPr/>
          <p:nvPr/>
        </p:nvSpPr>
        <p:spPr>
          <a:xfrm>
            <a:off x="5669280" y="1691640"/>
            <a:ext cx="914400" cy="502920"/>
          </a:xfrm>
          <a:prstGeom prst="rect">
            <a:avLst/>
          </a:prstGeom>
          <a:solidFill>
            <a:srgbClr val="C05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1764792"/>
            <a:ext cx="822960" cy="320040"/>
          </a:xfrm>
          <a:prstGeom prst="rect">
            <a:avLst/>
          </a:prstGeom>
          <a:noFill/>
        </p:spPr>
        <p:txBody>
          <a:bodyPr wrap="square">
            <a:spAutoFit/>
          </a:bodyPr>
          <a:lstStyle/>
          <a:p>
            <a:pPr algn="ctr"/>
            <a:r>
              <a:rPr sz="1400" b="1">
                <a:solidFill>
                  <a:srgbClr val="FFFFFF"/>
                </a:solidFill>
                <a:latin typeface="Calibri"/>
              </a:rPr>
              <a:t>41.4%</a:t>
            </a:r>
          </a:p>
        </p:txBody>
      </p:sp>
      <p:sp>
        <p:nvSpPr>
          <p:cNvPr id="11" name="TextBox 10"/>
          <p:cNvSpPr txBox="1"/>
          <p:nvPr/>
        </p:nvSpPr>
        <p:spPr>
          <a:xfrm>
            <a:off x="6675120" y="1783080"/>
            <a:ext cx="5029200" cy="320040"/>
          </a:xfrm>
          <a:prstGeom prst="rect">
            <a:avLst/>
          </a:prstGeom>
          <a:noFill/>
        </p:spPr>
        <p:txBody>
          <a:bodyPr wrap="square">
            <a:spAutoFit/>
          </a:bodyPr>
          <a:lstStyle/>
          <a:p>
            <a:pPr algn="l"/>
            <a:r>
              <a:rPr sz="1100" b="0">
                <a:solidFill>
                  <a:srgbClr val="15324A"/>
                </a:solidFill>
                <a:latin typeface="Calibri"/>
              </a:rPr>
              <a:t>Disrupted fit</a:t>
            </a:r>
          </a:p>
        </p:txBody>
      </p:sp>
      <p:sp>
        <p:nvSpPr>
          <p:cNvPr id="12" name="Rectangle 11"/>
          <p:cNvSpPr/>
          <p:nvPr/>
        </p:nvSpPr>
        <p:spPr>
          <a:xfrm>
            <a:off x="5669280" y="2377440"/>
            <a:ext cx="914400" cy="50292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15000" y="2450592"/>
            <a:ext cx="822960" cy="320040"/>
          </a:xfrm>
          <a:prstGeom prst="rect">
            <a:avLst/>
          </a:prstGeom>
          <a:noFill/>
        </p:spPr>
        <p:txBody>
          <a:bodyPr wrap="square">
            <a:spAutoFit/>
          </a:bodyPr>
          <a:lstStyle/>
          <a:p>
            <a:pPr algn="ctr"/>
            <a:r>
              <a:rPr sz="1400" b="1">
                <a:solidFill>
                  <a:srgbClr val="FFFFFF"/>
                </a:solidFill>
                <a:latin typeface="Calibri"/>
              </a:rPr>
              <a:t>-2.0%</a:t>
            </a:r>
          </a:p>
        </p:txBody>
      </p:sp>
      <p:sp>
        <p:nvSpPr>
          <p:cNvPr id="14" name="TextBox 13"/>
          <p:cNvSpPr txBox="1"/>
          <p:nvPr/>
        </p:nvSpPr>
        <p:spPr>
          <a:xfrm>
            <a:off x="6675120" y="2468880"/>
            <a:ext cx="5029200" cy="320040"/>
          </a:xfrm>
          <a:prstGeom prst="rect">
            <a:avLst/>
          </a:prstGeom>
          <a:noFill/>
        </p:spPr>
        <p:txBody>
          <a:bodyPr wrap="square">
            <a:spAutoFit/>
          </a:bodyPr>
          <a:lstStyle/>
          <a:p>
            <a:pPr algn="l"/>
            <a:r>
              <a:rPr sz="1100" b="0">
                <a:solidFill>
                  <a:srgbClr val="15324A"/>
                </a:solidFill>
                <a:latin typeface="Calibri"/>
              </a:rPr>
              <a:t>Net gap</a:t>
            </a:r>
          </a:p>
        </p:txBody>
      </p:sp>
      <p:sp>
        <p:nvSpPr>
          <p:cNvPr id="15" name="Rectangle 14"/>
          <p:cNvSpPr/>
          <p:nvPr/>
        </p:nvSpPr>
        <p:spPr>
          <a:xfrm>
            <a:off x="5669280" y="3063240"/>
            <a:ext cx="914400" cy="50292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15000" y="3136392"/>
            <a:ext cx="822960" cy="320040"/>
          </a:xfrm>
          <a:prstGeom prst="rect">
            <a:avLst/>
          </a:prstGeom>
          <a:noFill/>
        </p:spPr>
        <p:txBody>
          <a:bodyPr wrap="square">
            <a:spAutoFit/>
          </a:bodyPr>
          <a:lstStyle/>
          <a:p>
            <a:pPr algn="ctr"/>
            <a:r>
              <a:rPr sz="1400" b="1">
                <a:solidFill>
                  <a:srgbClr val="FFFFFF"/>
                </a:solidFill>
                <a:latin typeface="Calibri"/>
              </a:rPr>
              <a:t>Strong</a:t>
            </a:r>
          </a:p>
        </p:txBody>
      </p:sp>
      <p:sp>
        <p:nvSpPr>
          <p:cNvPr id="17" name="TextBox 16"/>
          <p:cNvSpPr txBox="1"/>
          <p:nvPr/>
        </p:nvSpPr>
        <p:spPr>
          <a:xfrm>
            <a:off x="6675120" y="3154680"/>
            <a:ext cx="5029200" cy="320040"/>
          </a:xfrm>
          <a:prstGeom prst="rect">
            <a:avLst/>
          </a:prstGeom>
          <a:noFill/>
        </p:spPr>
        <p:txBody>
          <a:bodyPr wrap="square">
            <a:spAutoFit/>
          </a:bodyPr>
          <a:lstStyle/>
          <a:p>
            <a:pPr algn="l"/>
            <a:r>
              <a:rPr sz="1100" b="0">
                <a:solidFill>
                  <a:srgbClr val="15324A"/>
                </a:solidFill>
                <a:latin typeface="Calibri"/>
              </a:rPr>
              <a:t>Evidence strength</a:t>
            </a:r>
          </a:p>
        </p:txBody>
      </p:sp>
      <p:sp>
        <p:nvSpPr>
          <p:cNvPr id="18" name="Rectangle 17"/>
          <p:cNvSpPr/>
          <p:nvPr/>
        </p:nvSpPr>
        <p:spPr>
          <a:xfrm>
            <a:off x="5669280" y="3749040"/>
            <a:ext cx="914400" cy="502920"/>
          </a:xfrm>
          <a:prstGeom prst="rect">
            <a:avLst/>
          </a:prstGeom>
          <a:solidFill>
            <a:srgbClr val="1F5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15000" y="3822192"/>
            <a:ext cx="822960" cy="320040"/>
          </a:xfrm>
          <a:prstGeom prst="rect">
            <a:avLst/>
          </a:prstGeom>
          <a:noFill/>
        </p:spPr>
        <p:txBody>
          <a:bodyPr wrap="square">
            <a:spAutoFit/>
          </a:bodyPr>
          <a:lstStyle/>
          <a:p>
            <a:pPr algn="ctr"/>
            <a:r>
              <a:rPr sz="1400" b="1">
                <a:solidFill>
                  <a:srgbClr val="FFFFFF"/>
                </a:solidFill>
                <a:latin typeface="Calibri"/>
              </a:rPr>
              <a:t>626</a:t>
            </a:r>
          </a:p>
        </p:txBody>
      </p:sp>
      <p:sp>
        <p:nvSpPr>
          <p:cNvPr id="20" name="TextBox 19"/>
          <p:cNvSpPr txBox="1"/>
          <p:nvPr/>
        </p:nvSpPr>
        <p:spPr>
          <a:xfrm>
            <a:off x="6675120" y="3840480"/>
            <a:ext cx="5029200" cy="320040"/>
          </a:xfrm>
          <a:prstGeom prst="rect">
            <a:avLst/>
          </a:prstGeom>
          <a:noFill/>
        </p:spPr>
        <p:txBody>
          <a:bodyPr wrap="square">
            <a:spAutoFit/>
          </a:bodyPr>
          <a:lstStyle/>
          <a:p>
            <a:pPr algn="l"/>
            <a:r>
              <a:rPr sz="1100" b="0">
                <a:solidFill>
                  <a:srgbClr val="15324A"/>
                </a:solidFill>
                <a:latin typeface="Calibri"/>
              </a:rPr>
              <a:t>Completed studies</a:t>
            </a:r>
          </a:p>
        </p:txBody>
      </p:sp>
      <p:sp>
        <p:nvSpPr>
          <p:cNvPr id="21" name="Rectangle 20"/>
          <p:cNvSpPr/>
          <p:nvPr/>
        </p:nvSpPr>
        <p:spPr>
          <a:xfrm>
            <a:off x="5669280" y="4434840"/>
            <a:ext cx="914400" cy="502920"/>
          </a:xfrm>
          <a:prstGeom prst="rect">
            <a:avLst/>
          </a:prstGeom>
          <a:solidFill>
            <a:srgbClr val="C05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5000" y="4507992"/>
            <a:ext cx="822960" cy="320040"/>
          </a:xfrm>
          <a:prstGeom prst="rect">
            <a:avLst/>
          </a:prstGeom>
          <a:noFill/>
        </p:spPr>
        <p:txBody>
          <a:bodyPr wrap="square">
            <a:spAutoFit/>
          </a:bodyPr>
          <a:lstStyle/>
          <a:p>
            <a:pPr algn="ctr"/>
            <a:r>
              <a:rPr sz="1400" b="1">
                <a:solidFill>
                  <a:srgbClr val="FFFFFF"/>
                </a:solidFill>
                <a:latin typeface="Calibri"/>
              </a:rPr>
              <a:t>70</a:t>
            </a:r>
          </a:p>
        </p:txBody>
      </p:sp>
      <p:sp>
        <p:nvSpPr>
          <p:cNvPr id="23" name="TextBox 22"/>
          <p:cNvSpPr txBox="1"/>
          <p:nvPr/>
        </p:nvSpPr>
        <p:spPr>
          <a:xfrm>
            <a:off x="6675120" y="4526280"/>
            <a:ext cx="5029200" cy="320040"/>
          </a:xfrm>
          <a:prstGeom prst="rect">
            <a:avLst/>
          </a:prstGeom>
          <a:noFill/>
        </p:spPr>
        <p:txBody>
          <a:bodyPr wrap="square">
            <a:spAutoFit/>
          </a:bodyPr>
          <a:lstStyle/>
          <a:p>
            <a:pPr algn="l"/>
            <a:r>
              <a:rPr sz="1100" b="0">
                <a:solidFill>
                  <a:srgbClr val="15324A"/>
                </a:solidFill>
                <a:latin typeface="Calibri"/>
              </a:rPr>
              <a:t>Disrupted studies</a:t>
            </a:r>
          </a:p>
        </p:txBody>
      </p:sp>
      <p:sp>
        <p:nvSpPr>
          <p:cNvPr id="24" name="TextBox 23"/>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25" name="TextBox 24"/>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Design Domain Alignment</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Alignment across design domains — completed vs disrupted precedent</a:t>
            </a:r>
          </a:p>
        </p:txBody>
      </p:sp>
      <p:pic>
        <p:nvPicPr>
          <p:cNvPr id="5" name="Picture 4" descr="image.png"/>
          <p:cNvPicPr>
            <a:picLocks noChangeAspect="1"/>
          </p:cNvPicPr>
          <p:nvPr/>
        </p:nvPicPr>
        <p:blipFill>
          <a:blip r:embed="rId2"/>
          <a:stretch>
            <a:fillRect/>
          </a:stretch>
        </p:blipFill>
        <p:spPr>
          <a:xfrm>
            <a:off x="182880" y="868680"/>
            <a:ext cx="6400800" cy="5029200"/>
          </a:xfrm>
          <a:prstGeom prst="rect">
            <a:avLst/>
          </a:prstGeom>
        </p:spPr>
      </p:pic>
      <p:sp>
        <p:nvSpPr>
          <p:cNvPr id="6" name="TextBox 5"/>
          <p:cNvSpPr txBox="1"/>
          <p:nvPr/>
        </p:nvSpPr>
        <p:spPr>
          <a:xfrm>
            <a:off x="6949440" y="914400"/>
            <a:ext cx="5029200" cy="274320"/>
          </a:xfrm>
          <a:prstGeom prst="rect">
            <a:avLst/>
          </a:prstGeom>
          <a:noFill/>
        </p:spPr>
        <p:txBody>
          <a:bodyPr wrap="square">
            <a:spAutoFit/>
          </a:bodyPr>
          <a:lstStyle/>
          <a:p>
            <a:pPr algn="l"/>
            <a:r>
              <a:rPr sz="1000" b="1">
                <a:solidFill>
                  <a:srgbClr val="15324A"/>
                </a:solidFill>
                <a:latin typeface="Calibri"/>
              </a:rPr>
              <a:t>Domain signals at a glance</a:t>
            </a:r>
          </a:p>
        </p:txBody>
      </p:sp>
      <p:sp>
        <p:nvSpPr>
          <p:cNvPr id="7" name="Rectangle 6"/>
          <p:cNvSpPr/>
          <p:nvPr/>
        </p:nvSpPr>
        <p:spPr>
          <a:xfrm>
            <a:off x="6949440" y="1280160"/>
            <a:ext cx="5029200" cy="50292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22592" y="1353312"/>
            <a:ext cx="4846320" cy="347472"/>
          </a:xfrm>
          <a:prstGeom prst="rect">
            <a:avLst/>
          </a:prstGeom>
          <a:noFill/>
        </p:spPr>
        <p:txBody>
          <a:bodyPr wrap="square">
            <a:spAutoFit/>
          </a:bodyPr>
          <a:lstStyle/>
          <a:p>
            <a:pPr algn="l"/>
            <a:r>
              <a:rPr sz="850" b="0">
                <a:solidFill>
                  <a:srgbClr val="5F6B7A"/>
                </a:solidFill>
                <a:latin typeface="Calibri"/>
              </a:rPr>
              <a:t>Phase: Phase 3b — Weak precedent signal</a:t>
            </a:r>
          </a:p>
        </p:txBody>
      </p:sp>
      <p:sp>
        <p:nvSpPr>
          <p:cNvPr id="9" name="Rectangle 8"/>
          <p:cNvSpPr/>
          <p:nvPr/>
        </p:nvSpPr>
        <p:spPr>
          <a:xfrm>
            <a:off x="6949440" y="1901952"/>
            <a:ext cx="5029200" cy="50292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22592" y="1975104"/>
            <a:ext cx="4846320" cy="347472"/>
          </a:xfrm>
          <a:prstGeom prst="rect">
            <a:avLst/>
          </a:prstGeom>
          <a:noFill/>
        </p:spPr>
        <p:txBody>
          <a:bodyPr wrap="square">
            <a:spAutoFit/>
          </a:bodyPr>
          <a:lstStyle/>
          <a:p>
            <a:pPr algn="l"/>
            <a:r>
              <a:rPr sz="850" b="0">
                <a:solidFill>
                  <a:srgbClr val="5F6B7A"/>
                </a:solidFill>
                <a:latin typeface="Calibri"/>
              </a:rPr>
              <a:t>Study Type: Interventional — Mixed precedent</a:t>
            </a:r>
          </a:p>
        </p:txBody>
      </p:sp>
      <p:sp>
        <p:nvSpPr>
          <p:cNvPr id="11" name="Rectangle 10"/>
          <p:cNvSpPr/>
          <p:nvPr/>
        </p:nvSpPr>
        <p:spPr>
          <a:xfrm>
            <a:off x="6949440" y="2523744"/>
            <a:ext cx="5029200" cy="50292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596896"/>
            <a:ext cx="4846320" cy="347472"/>
          </a:xfrm>
          <a:prstGeom prst="rect">
            <a:avLst/>
          </a:prstGeom>
          <a:noFill/>
        </p:spPr>
        <p:txBody>
          <a:bodyPr wrap="square">
            <a:spAutoFit/>
          </a:bodyPr>
          <a:lstStyle/>
          <a:p>
            <a:pPr algn="l"/>
            <a:r>
              <a:rPr sz="850" b="0">
                <a:solidFill>
                  <a:srgbClr val="5F6B7A"/>
                </a:solidFill>
                <a:latin typeface="Calibri"/>
              </a:rPr>
              <a:t>Allocation: Randomized — Mixed precedent</a:t>
            </a:r>
          </a:p>
        </p:txBody>
      </p:sp>
      <p:sp>
        <p:nvSpPr>
          <p:cNvPr id="13" name="Rectangle 12"/>
          <p:cNvSpPr/>
          <p:nvPr/>
        </p:nvSpPr>
        <p:spPr>
          <a:xfrm>
            <a:off x="6949440" y="3145536"/>
            <a:ext cx="5029200" cy="50292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22592" y="3218688"/>
            <a:ext cx="4846320" cy="347472"/>
          </a:xfrm>
          <a:prstGeom prst="rect">
            <a:avLst/>
          </a:prstGeom>
          <a:noFill/>
        </p:spPr>
        <p:txBody>
          <a:bodyPr wrap="square">
            <a:spAutoFit/>
          </a:bodyPr>
          <a:lstStyle/>
          <a:p>
            <a:pPr algn="l"/>
            <a:r>
              <a:rPr sz="850" b="0">
                <a:solidFill>
                  <a:srgbClr val="5F6B7A"/>
                </a:solidFill>
                <a:latin typeface="Calibri"/>
              </a:rPr>
              <a:t>Masking: Double — Mixed precedent</a:t>
            </a:r>
          </a:p>
        </p:txBody>
      </p:sp>
      <p:sp>
        <p:nvSpPr>
          <p:cNvPr id="15" name="Rectangle 14"/>
          <p:cNvSpPr/>
          <p:nvPr/>
        </p:nvSpPr>
        <p:spPr>
          <a:xfrm>
            <a:off x="6949440" y="3767328"/>
            <a:ext cx="5029200" cy="50292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22592" y="3840480"/>
            <a:ext cx="4846320" cy="347472"/>
          </a:xfrm>
          <a:prstGeom prst="rect">
            <a:avLst/>
          </a:prstGeom>
          <a:noFill/>
        </p:spPr>
        <p:txBody>
          <a:bodyPr wrap="square">
            <a:spAutoFit/>
          </a:bodyPr>
          <a:lstStyle/>
          <a:p>
            <a:pPr algn="l"/>
            <a:r>
              <a:rPr sz="850" b="0">
                <a:solidFill>
                  <a:srgbClr val="5F6B7A"/>
                </a:solidFill>
                <a:latin typeface="Calibri"/>
              </a:rPr>
              <a:t>Intervention Model: Crossover Assignment — Weak precedent signal</a:t>
            </a:r>
          </a:p>
        </p:txBody>
      </p:sp>
      <p:sp>
        <p:nvSpPr>
          <p:cNvPr id="17" name="Rectangle 16"/>
          <p:cNvSpPr/>
          <p:nvPr/>
        </p:nvSpPr>
        <p:spPr>
          <a:xfrm>
            <a:off x="6949440" y="4389120"/>
            <a:ext cx="5029200" cy="50292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2592" y="4462272"/>
            <a:ext cx="4846320" cy="347472"/>
          </a:xfrm>
          <a:prstGeom prst="rect">
            <a:avLst/>
          </a:prstGeom>
          <a:noFill/>
        </p:spPr>
        <p:txBody>
          <a:bodyPr wrap="square">
            <a:spAutoFit/>
          </a:bodyPr>
          <a:lstStyle/>
          <a:p>
            <a:pPr algn="l"/>
            <a:r>
              <a:rPr sz="850" b="0">
                <a:solidFill>
                  <a:srgbClr val="5F6B7A"/>
                </a:solidFill>
                <a:latin typeface="Calibri"/>
              </a:rPr>
              <a:t>Primary Purpose: Treatment — Mixed precedent</a:t>
            </a:r>
          </a:p>
        </p:txBody>
      </p:sp>
      <p:sp>
        <p:nvSpPr>
          <p:cNvPr id="19" name="Rectangle 18"/>
          <p:cNvSpPr/>
          <p:nvPr/>
        </p:nvSpPr>
        <p:spPr>
          <a:xfrm>
            <a:off x="6949440" y="5010912"/>
            <a:ext cx="5029200" cy="50292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22592" y="5084064"/>
            <a:ext cx="4846320" cy="347472"/>
          </a:xfrm>
          <a:prstGeom prst="rect">
            <a:avLst/>
          </a:prstGeom>
          <a:noFill/>
        </p:spPr>
        <p:txBody>
          <a:bodyPr wrap="square">
            <a:spAutoFit/>
          </a:bodyPr>
          <a:lstStyle/>
          <a:p>
            <a:pPr algn="l"/>
            <a:r>
              <a:rPr sz="850" b="0">
                <a:solidFill>
                  <a:srgbClr val="5F6B7A"/>
                </a:solidFill>
                <a:latin typeface="Calibri"/>
              </a:rPr>
              <a:t>Endpoint Focus: Other — Mixed precedent</a:t>
            </a:r>
          </a:p>
        </p:txBody>
      </p:sp>
      <p:sp>
        <p:nvSpPr>
          <p:cNvPr id="21" name="TextBox 20"/>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22" name="TextBox 21"/>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Enrollment Benchmark</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Protocol target vs completed and disrupted precedent IQR ranges</a:t>
            </a:r>
          </a:p>
        </p:txBody>
      </p:sp>
      <p:pic>
        <p:nvPicPr>
          <p:cNvPr id="5" name="Picture 4" descr="image.png"/>
          <p:cNvPicPr>
            <a:picLocks noChangeAspect="1"/>
          </p:cNvPicPr>
          <p:nvPr/>
        </p:nvPicPr>
        <p:blipFill>
          <a:blip r:embed="rId2"/>
          <a:stretch>
            <a:fillRect/>
          </a:stretch>
        </p:blipFill>
        <p:spPr>
          <a:xfrm>
            <a:off x="182880" y="868680"/>
            <a:ext cx="6858000" cy="4114800"/>
          </a:xfrm>
          <a:prstGeom prst="rect">
            <a:avLst/>
          </a:prstGeom>
        </p:spPr>
      </p:pic>
      <p:sp>
        <p:nvSpPr>
          <p:cNvPr id="6" name="TextBox 5"/>
          <p:cNvSpPr txBox="1"/>
          <p:nvPr/>
        </p:nvSpPr>
        <p:spPr>
          <a:xfrm>
            <a:off x="7406640" y="914400"/>
            <a:ext cx="4389120" cy="274320"/>
          </a:xfrm>
          <a:prstGeom prst="rect">
            <a:avLst/>
          </a:prstGeom>
          <a:noFill/>
        </p:spPr>
        <p:txBody>
          <a:bodyPr wrap="square">
            <a:spAutoFit/>
          </a:bodyPr>
          <a:lstStyle/>
          <a:p>
            <a:pPr algn="l"/>
            <a:r>
              <a:rPr sz="1000" b="1">
                <a:solidFill>
                  <a:srgbClr val="15324A"/>
                </a:solidFill>
                <a:latin typeface="Calibri"/>
              </a:rPr>
              <a:t>Key numbers</a:t>
            </a:r>
          </a:p>
        </p:txBody>
      </p:sp>
      <p:sp>
        <p:nvSpPr>
          <p:cNvPr id="7" name="Rectangle 6"/>
          <p:cNvSpPr/>
          <p:nvPr/>
        </p:nvSpPr>
        <p:spPr>
          <a:xfrm>
            <a:off x="7406640" y="1280160"/>
            <a:ext cx="4389120" cy="59436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79792" y="1307592"/>
            <a:ext cx="4206240" cy="228600"/>
          </a:xfrm>
          <a:prstGeom prst="rect">
            <a:avLst/>
          </a:prstGeom>
          <a:noFill/>
        </p:spPr>
        <p:txBody>
          <a:bodyPr wrap="square">
            <a:spAutoFit/>
          </a:bodyPr>
          <a:lstStyle/>
          <a:p>
            <a:pPr algn="l"/>
            <a:r>
              <a:rPr sz="800" b="0">
                <a:solidFill>
                  <a:srgbClr val="5F6B7A"/>
                </a:solidFill>
                <a:latin typeface="Calibri"/>
              </a:rPr>
              <a:t>Protocol target</a:t>
            </a:r>
          </a:p>
        </p:txBody>
      </p:sp>
      <p:sp>
        <p:nvSpPr>
          <p:cNvPr id="9" name="TextBox 8"/>
          <p:cNvSpPr txBox="1"/>
          <p:nvPr/>
        </p:nvSpPr>
        <p:spPr>
          <a:xfrm>
            <a:off x="7479792" y="1554480"/>
            <a:ext cx="4206240" cy="274320"/>
          </a:xfrm>
          <a:prstGeom prst="rect">
            <a:avLst/>
          </a:prstGeom>
          <a:noFill/>
        </p:spPr>
        <p:txBody>
          <a:bodyPr wrap="square">
            <a:spAutoFit/>
          </a:bodyPr>
          <a:lstStyle/>
          <a:p>
            <a:pPr algn="l"/>
            <a:r>
              <a:rPr sz="1300" b="1">
                <a:solidFill>
                  <a:srgbClr val="F5A623"/>
                </a:solidFill>
                <a:latin typeface="Calibri"/>
              </a:rPr>
              <a:t>n/a</a:t>
            </a:r>
          </a:p>
        </p:txBody>
      </p:sp>
      <p:sp>
        <p:nvSpPr>
          <p:cNvPr id="10" name="Rectangle 9"/>
          <p:cNvSpPr/>
          <p:nvPr/>
        </p:nvSpPr>
        <p:spPr>
          <a:xfrm>
            <a:off x="7406640" y="2029968"/>
            <a:ext cx="4389120" cy="59436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79792" y="2057400"/>
            <a:ext cx="4206240" cy="228600"/>
          </a:xfrm>
          <a:prstGeom prst="rect">
            <a:avLst/>
          </a:prstGeom>
          <a:noFill/>
        </p:spPr>
        <p:txBody>
          <a:bodyPr wrap="square">
            <a:spAutoFit/>
          </a:bodyPr>
          <a:lstStyle/>
          <a:p>
            <a:pPr algn="l"/>
            <a:r>
              <a:rPr sz="800" b="0">
                <a:solidFill>
                  <a:srgbClr val="5F6B7A"/>
                </a:solidFill>
                <a:latin typeface="Calibri"/>
              </a:rPr>
              <a:t>Completed median</a:t>
            </a:r>
          </a:p>
        </p:txBody>
      </p:sp>
      <p:sp>
        <p:nvSpPr>
          <p:cNvPr id="12" name="TextBox 11"/>
          <p:cNvSpPr txBox="1"/>
          <p:nvPr/>
        </p:nvSpPr>
        <p:spPr>
          <a:xfrm>
            <a:off x="7479792" y="2304288"/>
            <a:ext cx="4206240" cy="274320"/>
          </a:xfrm>
          <a:prstGeom prst="rect">
            <a:avLst/>
          </a:prstGeom>
          <a:noFill/>
        </p:spPr>
        <p:txBody>
          <a:bodyPr wrap="square">
            <a:spAutoFit/>
          </a:bodyPr>
          <a:lstStyle/>
          <a:p>
            <a:pPr algn="l"/>
            <a:r>
              <a:rPr sz="1300" b="1">
                <a:solidFill>
                  <a:srgbClr val="1F5B7A"/>
                </a:solidFill>
                <a:latin typeface="Calibri"/>
              </a:rPr>
              <a:t>106.0</a:t>
            </a:r>
          </a:p>
        </p:txBody>
      </p:sp>
      <p:sp>
        <p:nvSpPr>
          <p:cNvPr id="13" name="Rectangle 12"/>
          <p:cNvSpPr/>
          <p:nvPr/>
        </p:nvSpPr>
        <p:spPr>
          <a:xfrm>
            <a:off x="7406640" y="2779776"/>
            <a:ext cx="4389120" cy="59436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9792" y="2807208"/>
            <a:ext cx="4206240" cy="228600"/>
          </a:xfrm>
          <a:prstGeom prst="rect">
            <a:avLst/>
          </a:prstGeom>
          <a:noFill/>
        </p:spPr>
        <p:txBody>
          <a:bodyPr wrap="square">
            <a:spAutoFit/>
          </a:bodyPr>
          <a:lstStyle/>
          <a:p>
            <a:pPr algn="l"/>
            <a:r>
              <a:rPr sz="800" b="0">
                <a:solidFill>
                  <a:srgbClr val="5F6B7A"/>
                </a:solidFill>
                <a:latin typeface="Calibri"/>
              </a:rPr>
              <a:t>Completed P25–P75</a:t>
            </a:r>
          </a:p>
        </p:txBody>
      </p:sp>
      <p:sp>
        <p:nvSpPr>
          <p:cNvPr id="15" name="TextBox 14"/>
          <p:cNvSpPr txBox="1"/>
          <p:nvPr/>
        </p:nvSpPr>
        <p:spPr>
          <a:xfrm>
            <a:off x="7479792" y="3054096"/>
            <a:ext cx="4206240" cy="274320"/>
          </a:xfrm>
          <a:prstGeom prst="rect">
            <a:avLst/>
          </a:prstGeom>
          <a:noFill/>
        </p:spPr>
        <p:txBody>
          <a:bodyPr wrap="square">
            <a:spAutoFit/>
          </a:bodyPr>
          <a:lstStyle/>
          <a:p>
            <a:pPr algn="l"/>
            <a:r>
              <a:rPr sz="1300" b="1">
                <a:solidFill>
                  <a:srgbClr val="1F5B7A"/>
                </a:solidFill>
                <a:latin typeface="Calibri"/>
              </a:rPr>
              <a:t>40.0 – 350.5</a:t>
            </a:r>
          </a:p>
        </p:txBody>
      </p:sp>
      <p:sp>
        <p:nvSpPr>
          <p:cNvPr id="16" name="Rectangle 15"/>
          <p:cNvSpPr/>
          <p:nvPr/>
        </p:nvSpPr>
        <p:spPr>
          <a:xfrm>
            <a:off x="7406640" y="3529584"/>
            <a:ext cx="4389120" cy="59436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9792" y="3557016"/>
            <a:ext cx="4206240" cy="228600"/>
          </a:xfrm>
          <a:prstGeom prst="rect">
            <a:avLst/>
          </a:prstGeom>
          <a:noFill/>
        </p:spPr>
        <p:txBody>
          <a:bodyPr wrap="square">
            <a:spAutoFit/>
          </a:bodyPr>
          <a:lstStyle/>
          <a:p>
            <a:pPr algn="l"/>
            <a:r>
              <a:rPr sz="800" b="0">
                <a:solidFill>
                  <a:srgbClr val="5F6B7A"/>
                </a:solidFill>
                <a:latin typeface="Calibri"/>
              </a:rPr>
              <a:t>Disrupted median</a:t>
            </a:r>
          </a:p>
        </p:txBody>
      </p:sp>
      <p:sp>
        <p:nvSpPr>
          <p:cNvPr id="18" name="TextBox 17"/>
          <p:cNvSpPr txBox="1"/>
          <p:nvPr/>
        </p:nvSpPr>
        <p:spPr>
          <a:xfrm>
            <a:off x="7479792" y="3803904"/>
            <a:ext cx="4206240" cy="274320"/>
          </a:xfrm>
          <a:prstGeom prst="rect">
            <a:avLst/>
          </a:prstGeom>
          <a:noFill/>
        </p:spPr>
        <p:txBody>
          <a:bodyPr wrap="square">
            <a:spAutoFit/>
          </a:bodyPr>
          <a:lstStyle/>
          <a:p>
            <a:pPr algn="l"/>
            <a:r>
              <a:rPr sz="1300" b="1">
                <a:solidFill>
                  <a:srgbClr val="C0563D"/>
                </a:solidFill>
                <a:latin typeface="Calibri"/>
              </a:rPr>
              <a:t>9.5</a:t>
            </a:r>
          </a:p>
        </p:txBody>
      </p:sp>
      <p:sp>
        <p:nvSpPr>
          <p:cNvPr id="19" name="Rectangle 18"/>
          <p:cNvSpPr/>
          <p:nvPr/>
        </p:nvSpPr>
        <p:spPr>
          <a:xfrm>
            <a:off x="7406640" y="4279392"/>
            <a:ext cx="4389120" cy="59436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79792" y="4306824"/>
            <a:ext cx="4206240" cy="228600"/>
          </a:xfrm>
          <a:prstGeom prst="rect">
            <a:avLst/>
          </a:prstGeom>
          <a:noFill/>
        </p:spPr>
        <p:txBody>
          <a:bodyPr wrap="square">
            <a:spAutoFit/>
          </a:bodyPr>
          <a:lstStyle/>
          <a:p>
            <a:pPr algn="l"/>
            <a:r>
              <a:rPr sz="800" b="0">
                <a:solidFill>
                  <a:srgbClr val="5F6B7A"/>
                </a:solidFill>
                <a:latin typeface="Calibri"/>
              </a:rPr>
              <a:t>Disrupted P25–P75</a:t>
            </a:r>
          </a:p>
        </p:txBody>
      </p:sp>
      <p:sp>
        <p:nvSpPr>
          <p:cNvPr id="21" name="TextBox 20"/>
          <p:cNvSpPr txBox="1"/>
          <p:nvPr/>
        </p:nvSpPr>
        <p:spPr>
          <a:xfrm>
            <a:off x="7479792" y="4553712"/>
            <a:ext cx="4206240" cy="274320"/>
          </a:xfrm>
          <a:prstGeom prst="rect">
            <a:avLst/>
          </a:prstGeom>
          <a:noFill/>
        </p:spPr>
        <p:txBody>
          <a:bodyPr wrap="square">
            <a:spAutoFit/>
          </a:bodyPr>
          <a:lstStyle/>
          <a:p>
            <a:pPr algn="l"/>
            <a:r>
              <a:rPr sz="1300" b="1">
                <a:solidFill>
                  <a:srgbClr val="C0563D"/>
                </a:solidFill>
                <a:latin typeface="Calibri"/>
              </a:rPr>
              <a:t>0.0 – 57.0</a:t>
            </a:r>
          </a:p>
        </p:txBody>
      </p:sp>
      <p:sp>
        <p:nvSpPr>
          <p:cNvPr id="22" name="TextBox 21"/>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23" name="TextBox 22"/>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Trial Duration Analysis</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Planned duration vs completed and disrupted precedent cohort ranges</a:t>
            </a:r>
          </a:p>
        </p:txBody>
      </p:sp>
      <p:pic>
        <p:nvPicPr>
          <p:cNvPr id="5" name="Picture 4" descr="image.png"/>
          <p:cNvPicPr>
            <a:picLocks noChangeAspect="1"/>
          </p:cNvPicPr>
          <p:nvPr/>
        </p:nvPicPr>
        <p:blipFill>
          <a:blip r:embed="rId2"/>
          <a:stretch>
            <a:fillRect/>
          </a:stretch>
        </p:blipFill>
        <p:spPr>
          <a:xfrm>
            <a:off x="182880" y="914400"/>
            <a:ext cx="7772400" cy="3840480"/>
          </a:xfrm>
          <a:prstGeom prst="rect">
            <a:avLst/>
          </a:prstGeom>
        </p:spPr>
      </p:pic>
      <p:sp>
        <p:nvSpPr>
          <p:cNvPr id="6" name="TextBox 5"/>
          <p:cNvSpPr txBox="1"/>
          <p:nvPr/>
        </p:nvSpPr>
        <p:spPr>
          <a:xfrm>
            <a:off x="8229600" y="914400"/>
            <a:ext cx="3657600" cy="274320"/>
          </a:xfrm>
          <a:prstGeom prst="rect">
            <a:avLst/>
          </a:prstGeom>
          <a:noFill/>
        </p:spPr>
        <p:txBody>
          <a:bodyPr wrap="square">
            <a:spAutoFit/>
          </a:bodyPr>
          <a:lstStyle/>
          <a:p>
            <a:pPr algn="l"/>
            <a:r>
              <a:rPr sz="1000" b="1">
                <a:solidFill>
                  <a:srgbClr val="15324A"/>
                </a:solidFill>
                <a:latin typeface="Calibri"/>
              </a:rPr>
              <a:t>Duration stats</a:t>
            </a:r>
          </a:p>
        </p:txBody>
      </p:sp>
      <p:sp>
        <p:nvSpPr>
          <p:cNvPr id="7" name="Rectangle 6"/>
          <p:cNvSpPr/>
          <p:nvPr/>
        </p:nvSpPr>
        <p:spPr>
          <a:xfrm>
            <a:off x="8229600" y="1280160"/>
            <a:ext cx="3657600" cy="64008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02752" y="1316736"/>
            <a:ext cx="3474720" cy="228600"/>
          </a:xfrm>
          <a:prstGeom prst="rect">
            <a:avLst/>
          </a:prstGeom>
          <a:noFill/>
        </p:spPr>
        <p:txBody>
          <a:bodyPr wrap="square">
            <a:spAutoFit/>
          </a:bodyPr>
          <a:lstStyle/>
          <a:p>
            <a:pPr algn="l"/>
            <a:r>
              <a:rPr sz="800" b="0">
                <a:solidFill>
                  <a:srgbClr val="5F6B7A"/>
                </a:solidFill>
                <a:latin typeface="Calibri"/>
              </a:rPr>
              <a:t>Protocol plan (mo)</a:t>
            </a:r>
          </a:p>
        </p:txBody>
      </p:sp>
      <p:sp>
        <p:nvSpPr>
          <p:cNvPr id="9" name="TextBox 8"/>
          <p:cNvSpPr txBox="1"/>
          <p:nvPr/>
        </p:nvSpPr>
        <p:spPr>
          <a:xfrm>
            <a:off x="8302752" y="1581912"/>
            <a:ext cx="3474720" cy="274320"/>
          </a:xfrm>
          <a:prstGeom prst="rect">
            <a:avLst/>
          </a:prstGeom>
          <a:noFill/>
        </p:spPr>
        <p:txBody>
          <a:bodyPr wrap="square">
            <a:spAutoFit/>
          </a:bodyPr>
          <a:lstStyle/>
          <a:p>
            <a:pPr algn="l"/>
            <a:r>
              <a:rPr sz="1600" b="1">
                <a:solidFill>
                  <a:srgbClr val="F5A623"/>
                </a:solidFill>
                <a:latin typeface="Calibri"/>
              </a:rPr>
              <a:t>n/a</a:t>
            </a:r>
          </a:p>
        </p:txBody>
      </p:sp>
      <p:sp>
        <p:nvSpPr>
          <p:cNvPr id="10" name="Rectangle 9"/>
          <p:cNvSpPr/>
          <p:nvPr/>
        </p:nvSpPr>
        <p:spPr>
          <a:xfrm>
            <a:off x="8229600" y="2103120"/>
            <a:ext cx="3657600" cy="64008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2139696"/>
            <a:ext cx="3474720" cy="228600"/>
          </a:xfrm>
          <a:prstGeom prst="rect">
            <a:avLst/>
          </a:prstGeom>
          <a:noFill/>
        </p:spPr>
        <p:txBody>
          <a:bodyPr wrap="square">
            <a:spAutoFit/>
          </a:bodyPr>
          <a:lstStyle/>
          <a:p>
            <a:pPr algn="l"/>
            <a:r>
              <a:rPr sz="800" b="0">
                <a:solidFill>
                  <a:srgbClr val="5F6B7A"/>
                </a:solidFill>
                <a:latin typeface="Calibri"/>
              </a:rPr>
              <a:t>Completed median (mo)</a:t>
            </a:r>
          </a:p>
        </p:txBody>
      </p:sp>
      <p:sp>
        <p:nvSpPr>
          <p:cNvPr id="12" name="TextBox 11"/>
          <p:cNvSpPr txBox="1"/>
          <p:nvPr/>
        </p:nvSpPr>
        <p:spPr>
          <a:xfrm>
            <a:off x="8302752" y="2404872"/>
            <a:ext cx="3474720" cy="274320"/>
          </a:xfrm>
          <a:prstGeom prst="rect">
            <a:avLst/>
          </a:prstGeom>
          <a:noFill/>
        </p:spPr>
        <p:txBody>
          <a:bodyPr wrap="square">
            <a:spAutoFit/>
          </a:bodyPr>
          <a:lstStyle/>
          <a:p>
            <a:pPr algn="l"/>
            <a:r>
              <a:rPr sz="1600" b="1">
                <a:solidFill>
                  <a:srgbClr val="1F5B7A"/>
                </a:solidFill>
                <a:latin typeface="Calibri"/>
              </a:rPr>
              <a:t>23</a:t>
            </a:r>
          </a:p>
        </p:txBody>
      </p:sp>
      <p:sp>
        <p:nvSpPr>
          <p:cNvPr id="13" name="Rectangle 12"/>
          <p:cNvSpPr/>
          <p:nvPr/>
        </p:nvSpPr>
        <p:spPr>
          <a:xfrm>
            <a:off x="8229600" y="2926080"/>
            <a:ext cx="3657600" cy="640080"/>
          </a:xfrm>
          <a:prstGeom prst="rect">
            <a:avLst/>
          </a:prstGeom>
          <a:solidFill>
            <a:srgbClr val="EDF3F7"/>
          </a:solidFill>
          <a:ln w="6350">
            <a:solidFill>
              <a:srgbClr val="D5DC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2752" y="2962656"/>
            <a:ext cx="3474720" cy="228600"/>
          </a:xfrm>
          <a:prstGeom prst="rect">
            <a:avLst/>
          </a:prstGeom>
          <a:noFill/>
        </p:spPr>
        <p:txBody>
          <a:bodyPr wrap="square">
            <a:spAutoFit/>
          </a:bodyPr>
          <a:lstStyle/>
          <a:p>
            <a:pPr algn="l"/>
            <a:r>
              <a:rPr sz="800" b="0">
                <a:solidFill>
                  <a:srgbClr val="5F6B7A"/>
                </a:solidFill>
                <a:latin typeface="Calibri"/>
              </a:rPr>
              <a:t>Disrupted median (mo)</a:t>
            </a:r>
          </a:p>
        </p:txBody>
      </p:sp>
      <p:sp>
        <p:nvSpPr>
          <p:cNvPr id="15" name="TextBox 14"/>
          <p:cNvSpPr txBox="1"/>
          <p:nvPr/>
        </p:nvSpPr>
        <p:spPr>
          <a:xfrm>
            <a:off x="8302752" y="3227832"/>
            <a:ext cx="3474720" cy="274320"/>
          </a:xfrm>
          <a:prstGeom prst="rect">
            <a:avLst/>
          </a:prstGeom>
          <a:noFill/>
        </p:spPr>
        <p:txBody>
          <a:bodyPr wrap="square">
            <a:spAutoFit/>
          </a:bodyPr>
          <a:lstStyle/>
          <a:p>
            <a:pPr algn="l"/>
            <a:r>
              <a:rPr sz="1600" b="1">
                <a:solidFill>
                  <a:srgbClr val="C0563D"/>
                </a:solidFill>
                <a:latin typeface="Calibri"/>
              </a:rPr>
              <a:t>20</a:t>
            </a:r>
          </a:p>
        </p:txBody>
      </p:sp>
      <p:sp>
        <p:nvSpPr>
          <p:cNvPr id="16" name="TextBox 15"/>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17" name="TextBox 16"/>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Design Differential Matrix</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Domain-level protocol choice vs completed and disrupted precedent match rates</a:t>
            </a:r>
          </a:p>
        </p:txBody>
      </p:sp>
      <p:pic>
        <p:nvPicPr>
          <p:cNvPr id="5" name="Picture 4" descr="image.png"/>
          <p:cNvPicPr>
            <a:picLocks noChangeAspect="1"/>
          </p:cNvPicPr>
          <p:nvPr/>
        </p:nvPicPr>
        <p:blipFill>
          <a:blip r:embed="rId2"/>
          <a:stretch>
            <a:fillRect/>
          </a:stretch>
        </p:blipFill>
        <p:spPr>
          <a:xfrm>
            <a:off x="274320" y="914400"/>
            <a:ext cx="11430000" cy="5029200"/>
          </a:xfrm>
          <a:prstGeom prst="rect">
            <a:avLst/>
          </a:prstGeom>
        </p:spPr>
      </p:pic>
      <p:sp>
        <p:nvSpPr>
          <p:cNvPr id="6" name="TextBox 5"/>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7" name="TextBox 6"/>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Action Register</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Priority-ordered design decisions, clarifications, and risk mitigations</a:t>
            </a:r>
          </a:p>
        </p:txBody>
      </p:sp>
      <p:graphicFrame>
        <p:nvGraphicFramePr>
          <p:cNvPr id="5" name="Table 4"/>
          <p:cNvGraphicFramePr>
            <a:graphicFrameLocks noGrp="1"/>
          </p:cNvGraphicFramePr>
          <p:nvPr/>
        </p:nvGraphicFramePr>
        <p:xfrm>
          <a:off x="228600" y="868680"/>
          <a:ext cx="11704320" cy="5669280"/>
        </p:xfrm>
        <a:graphic>
          <a:graphicData uri="http://schemas.openxmlformats.org/drawingml/2006/table">
            <a:tbl>
              <a:tblPr firstRow="1" bandRow="1">
                <a:tableStyleId>{5C22544A-7EE6-4342-B048-85BDC9FD1C3A}</a:tableStyleId>
              </a:tblPr>
              <a:tblGrid>
                <a:gridCol w="2340864"/>
                <a:gridCol w="2340864"/>
                <a:gridCol w="2340864"/>
                <a:gridCol w="2340864"/>
                <a:gridCol w="2340864"/>
              </a:tblGrid>
              <a:tr h="2834640">
                <a:tc>
                  <a:txBody>
                    <a:bodyPr/>
                    <a:lstStyle/>
                    <a:p>
                      <a:pPr algn="ctr"/>
                      <a:r>
                        <a:rPr b="1" sz="800">
                          <a:solidFill>
                            <a:srgbClr val="FFFFFF"/>
                          </a:solidFill>
                          <a:latin typeface="Calibri"/>
                        </a:rPr>
                        <a:t>Priority</a:t>
                      </a:r>
                    </a:p>
                  </a:txBody>
                  <a:tcPr>
                    <a:solidFill>
                      <a:srgbClr val="15324A"/>
                    </a:solidFill>
                  </a:tcPr>
                </a:tc>
                <a:tc>
                  <a:txBody>
                    <a:bodyPr/>
                    <a:lstStyle/>
                    <a:p>
                      <a:pPr algn="ctr"/>
                      <a:r>
                        <a:rPr b="1" sz="800">
                          <a:solidFill>
                            <a:srgbClr val="FFFFFF"/>
                          </a:solidFill>
                          <a:latin typeface="Calibri"/>
                        </a:rPr>
                        <a:t>Category</a:t>
                      </a:r>
                    </a:p>
                  </a:txBody>
                  <a:tcPr>
                    <a:solidFill>
                      <a:srgbClr val="15324A"/>
                    </a:solidFill>
                  </a:tcPr>
                </a:tc>
                <a:tc>
                  <a:txBody>
                    <a:bodyPr/>
                    <a:lstStyle/>
                    <a:p>
                      <a:pPr algn="ctr"/>
                      <a:r>
                        <a:rPr b="1" sz="800">
                          <a:solidFill>
                            <a:srgbClr val="FFFFFF"/>
                          </a:solidFill>
                          <a:latin typeface="Calibri"/>
                        </a:rPr>
                        <a:t>Action Type</a:t>
                      </a:r>
                    </a:p>
                  </a:txBody>
                  <a:tcPr>
                    <a:solidFill>
                      <a:srgbClr val="15324A"/>
                    </a:solidFill>
                  </a:tcPr>
                </a:tc>
                <a:tc>
                  <a:txBody>
                    <a:bodyPr/>
                    <a:lstStyle/>
                    <a:p>
                      <a:pPr algn="ctr"/>
                      <a:r>
                        <a:rPr b="1" sz="800">
                          <a:solidFill>
                            <a:srgbClr val="FFFFFF"/>
                          </a:solidFill>
                          <a:latin typeface="Calibri"/>
                        </a:rPr>
                        <a:t>Recommendation</a:t>
                      </a:r>
                    </a:p>
                  </a:txBody>
                  <a:tcPr>
                    <a:solidFill>
                      <a:srgbClr val="15324A"/>
                    </a:solidFill>
                  </a:tcPr>
                </a:tc>
                <a:tc>
                  <a:txBody>
                    <a:bodyPr/>
                    <a:lstStyle/>
                    <a:p>
                      <a:pPr algn="ctr"/>
                      <a:r>
                        <a:rPr b="1" sz="800">
                          <a:solidFill>
                            <a:srgbClr val="FFFFFF"/>
                          </a:solidFill>
                          <a:latin typeface="Calibri"/>
                        </a:rPr>
                        <a:t>Evidence</a:t>
                      </a:r>
                    </a:p>
                  </a:txBody>
                  <a:tcPr>
                    <a:solidFill>
                      <a:srgbClr val="15324A"/>
                    </a:solidFill>
                  </a:tcPr>
                </a:tc>
              </a:tr>
              <a:tr h="2834640">
                <a:tc>
                  <a:txBody>
                    <a:bodyPr/>
                    <a:lstStyle/>
                    <a:p>
                      <a:pPr algn="l"/>
                      <a:r>
                        <a:rPr sz="800">
                          <a:solidFill>
                            <a:srgbClr val="15324A"/>
                          </a:solidFill>
                          <a:latin typeface="Calibri"/>
                        </a:rPr>
                        <a:t>Monitor</a:t>
                      </a:r>
                    </a:p>
                  </a:txBody>
                  <a:tcPr>
                    <a:solidFill>
                      <a:srgbClr val="FFFFFF"/>
                    </a:solidFill>
                  </a:tcPr>
                </a:tc>
                <a:tc>
                  <a:txBody>
                    <a:bodyPr/>
                    <a:lstStyle/>
                    <a:p>
                      <a:pPr algn="l"/>
                      <a:r>
                        <a:rPr sz="800">
                          <a:solidFill>
                            <a:srgbClr val="15324A"/>
                          </a:solidFill>
                          <a:latin typeface="Calibri"/>
                        </a:rPr>
                        <a:t>Overall review</a:t>
                      </a:r>
                    </a:p>
                  </a:txBody>
                  <a:tcPr>
                    <a:solidFill>
                      <a:srgbClr val="FFFFFF"/>
                    </a:solidFill>
                  </a:tcPr>
                </a:tc>
                <a:tc>
                  <a:txBody>
                    <a:bodyPr/>
                    <a:lstStyle/>
                    <a:p>
                      <a:pPr algn="l"/>
                      <a:r>
                        <a:rPr sz="800">
                          <a:solidFill>
                            <a:srgbClr val="15324A"/>
                          </a:solidFill>
                          <a:latin typeface="Calibri"/>
                        </a:rPr>
                        <a:t>Monitor</a:t>
                      </a:r>
                    </a:p>
                  </a:txBody>
                  <a:tcPr>
                    <a:solidFill>
                      <a:srgbClr val="FFFFFF"/>
                    </a:solidFill>
                  </a:tcPr>
                </a:tc>
                <a:tc>
                  <a:txBody>
                    <a:bodyPr/>
                    <a:lstStyle/>
                    <a:p>
                      <a:pPr algn="l"/>
                      <a:r>
                        <a:rPr sz="800">
                          <a:solidFill>
                            <a:srgbClr val="15324A"/>
                          </a:solidFill>
                          <a:latin typeface="Calibri"/>
                        </a:rPr>
                        <a:t>No strong design outlier was detected in the current benchmark snapshot.</a:t>
                      </a:r>
                    </a:p>
                  </a:txBody>
                  <a:tcPr>
                    <a:solidFill>
                      <a:srgbClr val="FFFFFF"/>
                    </a:solidFill>
                  </a:tcPr>
                </a:tc>
                <a:tc>
                  <a:txBody>
                    <a:bodyPr/>
                    <a:lstStyle/>
                    <a:p>
                      <a:pPr algn="l"/>
                      <a:r>
                        <a:rPr sz="800">
                          <a:solidFill>
                            <a:srgbClr val="15324A"/>
                          </a:solidFill>
                          <a:latin typeface="Calibri"/>
                        </a:rPr>
                        <a:t>Continue with clinical, statistical, operational, and regulatory review before f</a:t>
                      </a:r>
                    </a:p>
                  </a:txBody>
                  <a:tcPr>
                    <a:solidFill>
                      <a:srgbClr val="FFFFFF"/>
                    </a:solidFill>
                  </a:tcPr>
                </a:tc>
              </a:tr>
            </a:tbl>
          </a:graphicData>
        </a:graphic>
      </p:graphicFrame>
      <p:sp>
        <p:nvSpPr>
          <p:cNvPr id="6" name="TextBox 5"/>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7" name="TextBox 6"/>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Endpoint Evidence</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Endpoint category prevalence in completed vs disrupted precedent cohorts</a:t>
            </a:r>
          </a:p>
        </p:txBody>
      </p:sp>
      <p:pic>
        <p:nvPicPr>
          <p:cNvPr id="5" name="Picture 4" descr="image.png"/>
          <p:cNvPicPr>
            <a:picLocks noChangeAspect="1"/>
          </p:cNvPicPr>
          <p:nvPr/>
        </p:nvPicPr>
        <p:blipFill>
          <a:blip r:embed="rId2"/>
          <a:stretch>
            <a:fillRect/>
          </a:stretch>
        </p:blipFill>
        <p:spPr>
          <a:xfrm>
            <a:off x="182880" y="914400"/>
            <a:ext cx="6858000" cy="4572000"/>
          </a:xfrm>
          <a:prstGeom prst="rect">
            <a:avLst/>
          </a:prstGeom>
        </p:spPr>
      </p:pic>
      <p:pic>
        <p:nvPicPr>
          <p:cNvPr id="6" name="Picture 5" descr="image.png"/>
          <p:cNvPicPr>
            <a:picLocks noChangeAspect="1"/>
          </p:cNvPicPr>
          <p:nvPr/>
        </p:nvPicPr>
        <p:blipFill>
          <a:blip r:embed="rId3"/>
          <a:stretch>
            <a:fillRect/>
          </a:stretch>
        </p:blipFill>
        <p:spPr>
          <a:xfrm>
            <a:off x="7498079" y="914400"/>
            <a:ext cx="4389120" cy="3657600"/>
          </a:xfrm>
          <a:prstGeom prst="rect">
            <a:avLst/>
          </a:prstGeom>
        </p:spPr>
      </p:pic>
      <p:sp>
        <p:nvSpPr>
          <p:cNvPr id="7" name="TextBox 6"/>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8" name="TextBox 7"/>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Literature Evidence (PubMed)</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Peer-reviewed studies supporting the design rationale — sourced via NCBI PubMed</a:t>
            </a:r>
          </a:p>
        </p:txBody>
      </p:sp>
      <p:graphicFrame>
        <p:nvGraphicFramePr>
          <p:cNvPr id="5" name="Table 4"/>
          <p:cNvGraphicFramePr>
            <a:graphicFrameLocks noGrp="1"/>
          </p:cNvGraphicFramePr>
          <p:nvPr/>
        </p:nvGraphicFramePr>
        <p:xfrm>
          <a:off x="228600" y="868680"/>
          <a:ext cx="11704320" cy="5303520"/>
        </p:xfrm>
        <a:graphic>
          <a:graphicData uri="http://schemas.openxmlformats.org/drawingml/2006/table">
            <a:tbl>
              <a:tblPr firstRow="1" bandRow="1">
                <a:tableStyleId>{5C22544A-7EE6-4342-B048-85BDC9FD1C3A}</a:tableStyleId>
              </a:tblPr>
              <a:tblGrid>
                <a:gridCol w="2340864"/>
                <a:gridCol w="2340864"/>
                <a:gridCol w="2340864"/>
                <a:gridCol w="2340864"/>
                <a:gridCol w="2340864"/>
              </a:tblGrid>
              <a:tr h="589280">
                <a:tc>
                  <a:txBody>
                    <a:bodyPr/>
                    <a:lstStyle/>
                    <a:p>
                      <a:pPr algn="ctr"/>
                      <a:r>
                        <a:rPr b="1" sz="800">
                          <a:solidFill>
                            <a:srgbClr val="FFFFFF"/>
                          </a:solidFill>
                          <a:latin typeface="Calibri"/>
                        </a:rPr>
                        <a:t>PMID</a:t>
                      </a:r>
                    </a:p>
                  </a:txBody>
                  <a:tcPr>
                    <a:solidFill>
                      <a:srgbClr val="15324A"/>
                    </a:solidFill>
                  </a:tcPr>
                </a:tc>
                <a:tc>
                  <a:txBody>
                    <a:bodyPr/>
                    <a:lstStyle/>
                    <a:p>
                      <a:pPr algn="ctr"/>
                      <a:r>
                        <a:rPr b="1" sz="800">
                          <a:solidFill>
                            <a:srgbClr val="FFFFFF"/>
                          </a:solidFill>
                          <a:latin typeface="Calibri"/>
                        </a:rPr>
                        <a:t>Authors (first)</a:t>
                      </a:r>
                    </a:p>
                  </a:txBody>
                  <a:tcPr>
                    <a:solidFill>
                      <a:srgbClr val="15324A"/>
                    </a:solidFill>
                  </a:tcPr>
                </a:tc>
                <a:tc>
                  <a:txBody>
                    <a:bodyPr/>
                    <a:lstStyle/>
                    <a:p>
                      <a:pPr algn="ctr"/>
                      <a:r>
                        <a:rPr b="1" sz="800">
                          <a:solidFill>
                            <a:srgbClr val="FFFFFF"/>
                          </a:solidFill>
                          <a:latin typeface="Calibri"/>
                        </a:rPr>
                        <a:t>Year</a:t>
                      </a:r>
                    </a:p>
                  </a:txBody>
                  <a:tcPr>
                    <a:solidFill>
                      <a:srgbClr val="15324A"/>
                    </a:solidFill>
                  </a:tcPr>
                </a:tc>
                <a:tc>
                  <a:txBody>
                    <a:bodyPr/>
                    <a:lstStyle/>
                    <a:p>
                      <a:pPr algn="ctr"/>
                      <a:r>
                        <a:rPr b="1" sz="800">
                          <a:solidFill>
                            <a:srgbClr val="FFFFFF"/>
                          </a:solidFill>
                          <a:latin typeface="Calibri"/>
                        </a:rPr>
                        <a:t>Journal</a:t>
                      </a:r>
                    </a:p>
                  </a:txBody>
                  <a:tcPr>
                    <a:solidFill>
                      <a:srgbClr val="15324A"/>
                    </a:solidFill>
                  </a:tcPr>
                </a:tc>
                <a:tc>
                  <a:txBody>
                    <a:bodyPr/>
                    <a:lstStyle/>
                    <a:p>
                      <a:pPr algn="ctr"/>
                      <a:r>
                        <a:rPr b="1" sz="800">
                          <a:solidFill>
                            <a:srgbClr val="FFFFFF"/>
                          </a:solidFill>
                          <a:latin typeface="Calibri"/>
                        </a:rPr>
                        <a:t>Title</a:t>
                      </a:r>
                    </a:p>
                  </a:txBody>
                  <a:tcPr>
                    <a:solidFill>
                      <a:srgbClr val="15324A"/>
                    </a:solidFill>
                  </a:tcPr>
                </a:tc>
              </a:tr>
              <a:tr h="589280">
                <a:tc>
                  <a:txBody>
                    <a:bodyPr/>
                    <a:lstStyle/>
                    <a:p>
                      <a:pPr algn="l"/>
                      <a:r>
                        <a:rPr sz="800">
                          <a:solidFill>
                            <a:srgbClr val="15324A"/>
                          </a:solidFill>
                          <a:latin typeface="Calibri"/>
                        </a:rPr>
                        <a:t>39465893</a:t>
                      </a:r>
                    </a:p>
                  </a:txBody>
                  <a:tcPr>
                    <a:solidFill>
                      <a:srgbClr val="FFFFFF"/>
                    </a:solidFill>
                  </a:tcPr>
                </a:tc>
                <a:tc>
                  <a:txBody>
                    <a:bodyPr/>
                    <a:lstStyle/>
                    <a:p>
                      <a:pPr algn="l"/>
                      <a:r>
                        <a:rPr sz="800">
                          <a:solidFill>
                            <a:srgbClr val="15324A"/>
                          </a:solidFill>
                          <a:latin typeface="Calibri"/>
                        </a:rPr>
                        <a:t>Rayner DG et al.</a:t>
                      </a:r>
                    </a:p>
                  </a:txBody>
                  <a:tcPr>
                    <a:solidFill>
                      <a:srgbClr val="FFFFFF"/>
                    </a:solidFill>
                  </a:tcPr>
                </a:tc>
                <a:tc>
                  <a:txBody>
                    <a:bodyPr/>
                    <a:lstStyle/>
                    <a:p>
                      <a:pPr algn="l"/>
                      <a:r>
                        <a:rPr sz="800">
                          <a:solidFill>
                            <a:srgbClr val="15324A"/>
                          </a:solidFill>
                          <a:latin typeface="Calibri"/>
                        </a:rPr>
                        <a:t>2025</a:t>
                      </a:r>
                    </a:p>
                  </a:txBody>
                  <a:tcPr>
                    <a:solidFill>
                      <a:srgbClr val="FFFFFF"/>
                    </a:solidFill>
                  </a:tcPr>
                </a:tc>
                <a:tc>
                  <a:txBody>
                    <a:bodyPr/>
                    <a:lstStyle/>
                    <a:p>
                      <a:pPr algn="l"/>
                      <a:r>
                        <a:rPr sz="800">
                          <a:solidFill>
                            <a:srgbClr val="15324A"/>
                          </a:solidFill>
                          <a:latin typeface="Calibri"/>
                        </a:rPr>
                        <a:t>JAMA</a:t>
                      </a:r>
                    </a:p>
                  </a:txBody>
                  <a:tcPr>
                    <a:solidFill>
                      <a:srgbClr val="FFFFFF"/>
                    </a:solidFill>
                  </a:tcPr>
                </a:tc>
                <a:tc>
                  <a:txBody>
                    <a:bodyPr/>
                    <a:lstStyle/>
                    <a:p>
                      <a:pPr algn="l"/>
                      <a:r>
                        <a:rPr sz="800">
                          <a:solidFill>
                            <a:srgbClr val="15324A"/>
                          </a:solidFill>
                          <a:latin typeface="Calibri"/>
                        </a:rPr>
                        <a:t>Inhaled Reliever Therapies for Asthma: A Systematic Review and Meta-An</a:t>
                      </a:r>
                    </a:p>
                  </a:txBody>
                  <a:tcPr>
                    <a:solidFill>
                      <a:srgbClr val="FFFFFF"/>
                    </a:solidFill>
                  </a:tcPr>
                </a:tc>
              </a:tr>
              <a:tr h="589280">
                <a:tc>
                  <a:txBody>
                    <a:bodyPr/>
                    <a:lstStyle/>
                    <a:p>
                      <a:pPr algn="l"/>
                      <a:r>
                        <a:rPr sz="800">
                          <a:solidFill>
                            <a:srgbClr val="15324A"/>
                          </a:solidFill>
                          <a:latin typeface="Calibri"/>
                        </a:rPr>
                        <a:t>36538979</a:t>
                      </a:r>
                    </a:p>
                  </a:txBody>
                  <a:tcPr>
                    <a:solidFill>
                      <a:srgbClr val="EDF3F7"/>
                    </a:solidFill>
                  </a:tcPr>
                </a:tc>
                <a:tc>
                  <a:txBody>
                    <a:bodyPr/>
                    <a:lstStyle/>
                    <a:p>
                      <a:pPr algn="l"/>
                      <a:r>
                        <a:rPr sz="800">
                          <a:solidFill>
                            <a:srgbClr val="15324A"/>
                          </a:solidFill>
                          <a:latin typeface="Calibri"/>
                        </a:rPr>
                        <a:t>Nopsopon T et al.</a:t>
                      </a:r>
                    </a:p>
                  </a:txBody>
                  <a:tcPr>
                    <a:solidFill>
                      <a:srgbClr val="EDF3F7"/>
                    </a:solidFill>
                  </a:tcPr>
                </a:tc>
                <a:tc>
                  <a:txBody>
                    <a:bodyPr/>
                    <a:lstStyle/>
                    <a:p>
                      <a:pPr algn="l"/>
                      <a:r>
                        <a:rPr sz="800">
                          <a:solidFill>
                            <a:srgbClr val="15324A"/>
                          </a:solidFill>
                          <a:latin typeface="Calibri"/>
                        </a:rPr>
                        <a:t>2023</a:t>
                      </a:r>
                    </a:p>
                  </a:txBody>
                  <a:tcPr>
                    <a:solidFill>
                      <a:srgbClr val="EDF3F7"/>
                    </a:solidFill>
                  </a:tcPr>
                </a:tc>
                <a:tc>
                  <a:txBody>
                    <a:bodyPr/>
                    <a:lstStyle/>
                    <a:p>
                      <a:pPr algn="l"/>
                      <a:r>
                        <a:rPr sz="800">
                          <a:solidFill>
                            <a:srgbClr val="15324A"/>
                          </a:solidFill>
                          <a:latin typeface="Calibri"/>
                        </a:rPr>
                        <a:t>The Journal of allergy and cli</a:t>
                      </a:r>
                    </a:p>
                  </a:txBody>
                  <a:tcPr>
                    <a:solidFill>
                      <a:srgbClr val="EDF3F7"/>
                    </a:solidFill>
                  </a:tcPr>
                </a:tc>
                <a:tc>
                  <a:txBody>
                    <a:bodyPr/>
                    <a:lstStyle/>
                    <a:p>
                      <a:pPr algn="l"/>
                      <a:r>
                        <a:rPr sz="800">
                          <a:solidFill>
                            <a:srgbClr val="15324A"/>
                          </a:solidFill>
                          <a:latin typeface="Calibri"/>
                        </a:rPr>
                        <a:t>Comparative efficacy of tezepelumab to mepolizumab, benralizumab, and </a:t>
                      </a:r>
                    </a:p>
                  </a:txBody>
                  <a:tcPr>
                    <a:solidFill>
                      <a:srgbClr val="EDF3F7"/>
                    </a:solidFill>
                  </a:tcPr>
                </a:tc>
              </a:tr>
              <a:tr h="589280">
                <a:tc>
                  <a:txBody>
                    <a:bodyPr/>
                    <a:lstStyle/>
                    <a:p>
                      <a:pPr algn="l"/>
                      <a:r>
                        <a:rPr sz="800">
                          <a:solidFill>
                            <a:srgbClr val="15324A"/>
                          </a:solidFill>
                          <a:latin typeface="Calibri"/>
                        </a:rPr>
                        <a:t>32350100</a:t>
                      </a:r>
                    </a:p>
                  </a:txBody>
                  <a:tcPr>
                    <a:solidFill>
                      <a:srgbClr val="FFFFFF"/>
                    </a:solidFill>
                  </a:tcPr>
                </a:tc>
                <a:tc>
                  <a:txBody>
                    <a:bodyPr/>
                    <a:lstStyle/>
                    <a:p>
                      <a:pPr algn="l"/>
                      <a:r>
                        <a:rPr sz="800">
                          <a:solidFill>
                            <a:srgbClr val="15324A"/>
                          </a:solidFill>
                          <a:latin typeface="Calibri"/>
                        </a:rPr>
                        <a:t>Hansen ESH et al.</a:t>
                      </a:r>
                    </a:p>
                  </a:txBody>
                  <a:tcPr>
                    <a:solidFill>
                      <a:srgbClr val="FFFFFF"/>
                    </a:solidFill>
                  </a:tcPr>
                </a:tc>
                <a:tc>
                  <a:txBody>
                    <a:bodyPr/>
                    <a:lstStyle/>
                    <a:p>
                      <a:pPr algn="l"/>
                      <a:r>
                        <a:rPr sz="800">
                          <a:solidFill>
                            <a:srgbClr val="15324A"/>
                          </a:solidFill>
                          <a:latin typeface="Calibri"/>
                        </a:rPr>
                        <a:t>2020</a:t>
                      </a:r>
                    </a:p>
                  </a:txBody>
                  <a:tcPr>
                    <a:solidFill>
                      <a:srgbClr val="FFFFFF"/>
                    </a:solidFill>
                  </a:tcPr>
                </a:tc>
                <a:tc>
                  <a:txBody>
                    <a:bodyPr/>
                    <a:lstStyle/>
                    <a:p>
                      <a:pPr algn="l"/>
                      <a:r>
                        <a:rPr sz="800">
                          <a:solidFill>
                            <a:srgbClr val="15324A"/>
                          </a:solidFill>
                          <a:latin typeface="Calibri"/>
                        </a:rPr>
                        <a:t>The European respiratory journ</a:t>
                      </a:r>
                    </a:p>
                  </a:txBody>
                  <a:tcPr>
                    <a:solidFill>
                      <a:srgbClr val="FFFFFF"/>
                    </a:solidFill>
                  </a:tcPr>
                </a:tc>
                <a:tc>
                  <a:txBody>
                    <a:bodyPr/>
                    <a:lstStyle/>
                    <a:p>
                      <a:pPr algn="l"/>
                      <a:r>
                        <a:rPr sz="800">
                          <a:solidFill>
                            <a:srgbClr val="15324A"/>
                          </a:solidFill>
                          <a:latin typeface="Calibri"/>
                        </a:rPr>
                        <a:t>Effect of aerobic exercise training on asthma in adults: a systematic </a:t>
                      </a:r>
                    </a:p>
                  </a:txBody>
                  <a:tcPr>
                    <a:solidFill>
                      <a:srgbClr val="FFFFFF"/>
                    </a:solidFill>
                  </a:tcPr>
                </a:tc>
              </a:tr>
              <a:tr h="589280">
                <a:tc>
                  <a:txBody>
                    <a:bodyPr/>
                    <a:lstStyle/>
                    <a:p>
                      <a:pPr algn="l"/>
                      <a:r>
                        <a:rPr sz="800">
                          <a:solidFill>
                            <a:srgbClr val="15324A"/>
                          </a:solidFill>
                          <a:latin typeface="Calibri"/>
                        </a:rPr>
                        <a:t>39421966</a:t>
                      </a:r>
                    </a:p>
                  </a:txBody>
                  <a:tcPr>
                    <a:solidFill>
                      <a:srgbClr val="EDF3F7"/>
                    </a:solidFill>
                  </a:tcPr>
                </a:tc>
                <a:tc>
                  <a:txBody>
                    <a:bodyPr/>
                    <a:lstStyle/>
                    <a:p>
                      <a:pPr algn="l"/>
                      <a:r>
                        <a:rPr sz="800">
                          <a:solidFill>
                            <a:srgbClr val="15324A"/>
                          </a:solidFill>
                          <a:latin typeface="Calibri"/>
                        </a:rPr>
                        <a:t>Fedora K et al.</a:t>
                      </a:r>
                    </a:p>
                  </a:txBody>
                  <a:tcPr>
                    <a:solidFill>
                      <a:srgbClr val="EDF3F7"/>
                    </a:solidFill>
                  </a:tcPr>
                </a:tc>
                <a:tc>
                  <a:txBody>
                    <a:bodyPr/>
                    <a:lstStyle/>
                    <a:p>
                      <a:pPr algn="l"/>
                      <a:r>
                        <a:rPr sz="800">
                          <a:solidFill>
                            <a:srgbClr val="15324A"/>
                          </a:solidFill>
                          <a:latin typeface="Calibri"/>
                        </a:rPr>
                        <a:t>2024</a:t>
                      </a:r>
                    </a:p>
                  </a:txBody>
                  <a:tcPr>
                    <a:solidFill>
                      <a:srgbClr val="EDF3F7"/>
                    </a:solidFill>
                  </a:tcPr>
                </a:tc>
                <a:tc>
                  <a:txBody>
                    <a:bodyPr/>
                    <a:lstStyle/>
                    <a:p>
                      <a:pPr algn="l"/>
                      <a:r>
                        <a:rPr sz="800">
                          <a:solidFill>
                            <a:srgbClr val="15324A"/>
                          </a:solidFill>
                          <a:latin typeface="Calibri"/>
                        </a:rPr>
                        <a:t>Annals of medicine</a:t>
                      </a:r>
                    </a:p>
                  </a:txBody>
                  <a:tcPr>
                    <a:solidFill>
                      <a:srgbClr val="EDF3F7"/>
                    </a:solidFill>
                  </a:tcPr>
                </a:tc>
                <a:tc>
                  <a:txBody>
                    <a:bodyPr/>
                    <a:lstStyle/>
                    <a:p>
                      <a:pPr algn="l"/>
                      <a:r>
                        <a:rPr sz="800">
                          <a:solidFill>
                            <a:srgbClr val="15324A"/>
                          </a:solidFill>
                          <a:latin typeface="Calibri"/>
                        </a:rPr>
                        <a:t>Vitamin D supplementation decrease asthma exacerbations in children: a</a:t>
                      </a:r>
                    </a:p>
                  </a:txBody>
                  <a:tcPr>
                    <a:solidFill>
                      <a:srgbClr val="EDF3F7"/>
                    </a:solidFill>
                  </a:tcPr>
                </a:tc>
              </a:tr>
              <a:tr h="589280">
                <a:tc>
                  <a:txBody>
                    <a:bodyPr/>
                    <a:lstStyle/>
                    <a:p>
                      <a:pPr algn="l"/>
                      <a:r>
                        <a:rPr sz="800">
                          <a:solidFill>
                            <a:srgbClr val="15324A"/>
                          </a:solidFill>
                          <a:latin typeface="Calibri"/>
                        </a:rPr>
                        <a:t>37286218</a:t>
                      </a:r>
                    </a:p>
                  </a:txBody>
                  <a:tcPr>
                    <a:solidFill>
                      <a:srgbClr val="FFFFFF"/>
                    </a:solidFill>
                  </a:tcPr>
                </a:tc>
                <a:tc>
                  <a:txBody>
                    <a:bodyPr/>
                    <a:lstStyle/>
                    <a:p>
                      <a:pPr algn="l"/>
                      <a:r>
                        <a:rPr sz="800">
                          <a:solidFill>
                            <a:srgbClr val="15324A"/>
                          </a:solidFill>
                          <a:latin typeface="Calibri"/>
                        </a:rPr>
                        <a:t>Makrufardi F et al.</a:t>
                      </a:r>
                    </a:p>
                  </a:txBody>
                  <a:tcPr>
                    <a:solidFill>
                      <a:srgbClr val="FFFFFF"/>
                    </a:solidFill>
                  </a:tcPr>
                </a:tc>
                <a:tc>
                  <a:txBody>
                    <a:bodyPr/>
                    <a:lstStyle/>
                    <a:p>
                      <a:pPr algn="l"/>
                      <a:r>
                        <a:rPr sz="800">
                          <a:solidFill>
                            <a:srgbClr val="15324A"/>
                          </a:solidFill>
                          <a:latin typeface="Calibri"/>
                        </a:rPr>
                        <a:t>2023</a:t>
                      </a:r>
                    </a:p>
                  </a:txBody>
                  <a:tcPr>
                    <a:solidFill>
                      <a:srgbClr val="FFFFFF"/>
                    </a:solidFill>
                  </a:tcPr>
                </a:tc>
                <a:tc>
                  <a:txBody>
                    <a:bodyPr/>
                    <a:lstStyle/>
                    <a:p>
                      <a:pPr algn="l"/>
                      <a:r>
                        <a:rPr sz="800">
                          <a:solidFill>
                            <a:srgbClr val="15324A"/>
                          </a:solidFill>
                          <a:latin typeface="Calibri"/>
                        </a:rPr>
                        <a:t>European respiratory review : </a:t>
                      </a:r>
                    </a:p>
                  </a:txBody>
                  <a:tcPr>
                    <a:solidFill>
                      <a:srgbClr val="FFFFFF"/>
                    </a:solidFill>
                  </a:tcPr>
                </a:tc>
                <a:tc>
                  <a:txBody>
                    <a:bodyPr/>
                    <a:lstStyle/>
                    <a:p>
                      <a:pPr algn="l"/>
                      <a:r>
                        <a:rPr sz="800">
                          <a:solidFill>
                            <a:srgbClr val="15324A"/>
                          </a:solidFill>
                          <a:latin typeface="Calibri"/>
                        </a:rPr>
                        <a:t>Extreme weather and asthma: a systematic review and meta-analysis.</a:t>
                      </a:r>
                    </a:p>
                  </a:txBody>
                  <a:tcPr>
                    <a:solidFill>
                      <a:srgbClr val="FFFFFF"/>
                    </a:solidFill>
                  </a:tcPr>
                </a:tc>
              </a:tr>
              <a:tr h="589280">
                <a:tc>
                  <a:txBody>
                    <a:bodyPr/>
                    <a:lstStyle/>
                    <a:p>
                      <a:pPr algn="l"/>
                      <a:r>
                        <a:rPr sz="800">
                          <a:solidFill>
                            <a:srgbClr val="15324A"/>
                          </a:solidFill>
                          <a:latin typeface="Calibri"/>
                        </a:rPr>
                        <a:t>38657997</a:t>
                      </a:r>
                    </a:p>
                  </a:txBody>
                  <a:tcPr>
                    <a:solidFill>
                      <a:srgbClr val="EDF3F7"/>
                    </a:solidFill>
                  </a:tcPr>
                </a:tc>
                <a:tc>
                  <a:txBody>
                    <a:bodyPr/>
                    <a:lstStyle/>
                    <a:p>
                      <a:pPr algn="l"/>
                      <a:r>
                        <a:rPr sz="800">
                          <a:solidFill>
                            <a:srgbClr val="15324A"/>
                          </a:solidFill>
                          <a:latin typeface="Calibri"/>
                        </a:rPr>
                        <a:t>Kyriakopoulos C et al.</a:t>
                      </a:r>
                    </a:p>
                  </a:txBody>
                  <a:tcPr>
                    <a:solidFill>
                      <a:srgbClr val="EDF3F7"/>
                    </a:solidFill>
                  </a:tcPr>
                </a:tc>
                <a:tc>
                  <a:txBody>
                    <a:bodyPr/>
                    <a:lstStyle/>
                    <a:p>
                      <a:pPr algn="l"/>
                      <a:r>
                        <a:rPr sz="800">
                          <a:solidFill>
                            <a:srgbClr val="15324A"/>
                          </a:solidFill>
                          <a:latin typeface="Calibri"/>
                        </a:rPr>
                        <a:t>2024</a:t>
                      </a:r>
                    </a:p>
                  </a:txBody>
                  <a:tcPr>
                    <a:solidFill>
                      <a:srgbClr val="EDF3F7"/>
                    </a:solidFill>
                  </a:tcPr>
                </a:tc>
                <a:tc>
                  <a:txBody>
                    <a:bodyPr/>
                    <a:lstStyle/>
                    <a:p>
                      <a:pPr algn="l"/>
                      <a:r>
                        <a:rPr sz="800">
                          <a:solidFill>
                            <a:srgbClr val="15324A"/>
                          </a:solidFill>
                          <a:latin typeface="Calibri"/>
                        </a:rPr>
                        <a:t>European respiratory review : </a:t>
                      </a:r>
                    </a:p>
                  </a:txBody>
                  <a:tcPr>
                    <a:solidFill>
                      <a:srgbClr val="EDF3F7"/>
                    </a:solidFill>
                  </a:tcPr>
                </a:tc>
                <a:tc>
                  <a:txBody>
                    <a:bodyPr/>
                    <a:lstStyle/>
                    <a:p>
                      <a:pPr algn="l"/>
                      <a:r>
                        <a:rPr sz="800">
                          <a:solidFill>
                            <a:srgbClr val="15324A"/>
                          </a:solidFill>
                          <a:latin typeface="Calibri"/>
                        </a:rPr>
                        <a:t>Biologic agents licensed for severe asthma: a systematic review and me</a:t>
                      </a:r>
                    </a:p>
                  </a:txBody>
                  <a:tcPr>
                    <a:solidFill>
                      <a:srgbClr val="EDF3F7"/>
                    </a:solidFill>
                  </a:tcPr>
                </a:tc>
              </a:tr>
              <a:tr h="589280">
                <a:tc>
                  <a:txBody>
                    <a:bodyPr/>
                    <a:lstStyle/>
                    <a:p>
                      <a:pPr algn="l"/>
                      <a:r>
                        <a:rPr sz="800">
                          <a:solidFill>
                            <a:srgbClr val="15324A"/>
                          </a:solidFill>
                          <a:latin typeface="Calibri"/>
                        </a:rPr>
                        <a:t>39384302</a:t>
                      </a:r>
                    </a:p>
                  </a:txBody>
                  <a:tcPr>
                    <a:solidFill>
                      <a:srgbClr val="FFFFFF"/>
                    </a:solidFill>
                  </a:tcPr>
                </a:tc>
                <a:tc>
                  <a:txBody>
                    <a:bodyPr/>
                    <a:lstStyle/>
                    <a:p>
                      <a:pPr algn="l"/>
                      <a:r>
                        <a:rPr sz="800">
                          <a:solidFill>
                            <a:srgbClr val="15324A"/>
                          </a:solidFill>
                          <a:latin typeface="Calibri"/>
                        </a:rPr>
                        <a:t>Manti S et al.</a:t>
                      </a:r>
                    </a:p>
                  </a:txBody>
                  <a:tcPr>
                    <a:solidFill>
                      <a:srgbClr val="FFFFFF"/>
                    </a:solidFill>
                  </a:tcPr>
                </a:tc>
                <a:tc>
                  <a:txBody>
                    <a:bodyPr/>
                    <a:lstStyle/>
                    <a:p>
                      <a:pPr algn="l"/>
                      <a:r>
                        <a:rPr sz="800">
                          <a:solidFill>
                            <a:srgbClr val="15324A"/>
                          </a:solidFill>
                          <a:latin typeface="Calibri"/>
                        </a:rPr>
                        <a:t>2024</a:t>
                      </a:r>
                    </a:p>
                  </a:txBody>
                  <a:tcPr>
                    <a:solidFill>
                      <a:srgbClr val="FFFFFF"/>
                    </a:solidFill>
                  </a:tcPr>
                </a:tc>
                <a:tc>
                  <a:txBody>
                    <a:bodyPr/>
                    <a:lstStyle/>
                    <a:p>
                      <a:pPr algn="l"/>
                      <a:r>
                        <a:rPr sz="800">
                          <a:solidFill>
                            <a:srgbClr val="15324A"/>
                          </a:solidFill>
                          <a:latin typeface="Calibri"/>
                        </a:rPr>
                        <a:t>European respiratory review : </a:t>
                      </a:r>
                    </a:p>
                  </a:txBody>
                  <a:tcPr>
                    <a:solidFill>
                      <a:srgbClr val="FFFFFF"/>
                    </a:solidFill>
                  </a:tcPr>
                </a:tc>
                <a:tc>
                  <a:txBody>
                    <a:bodyPr/>
                    <a:lstStyle/>
                    <a:p>
                      <a:pPr algn="l"/>
                      <a:r>
                        <a:rPr sz="800">
                          <a:solidFill>
                            <a:srgbClr val="15324A"/>
                          </a:solidFill>
                          <a:latin typeface="Calibri"/>
                        </a:rPr>
                        <a:t>Epidemiology of severe asthma in children: a systematic review and met</a:t>
                      </a:r>
                    </a:p>
                  </a:txBody>
                  <a:tcPr>
                    <a:solidFill>
                      <a:srgbClr val="FFFFFF"/>
                    </a:solidFill>
                  </a:tcPr>
                </a:tc>
              </a:tr>
              <a:tr h="589280">
                <a:tc>
                  <a:txBody>
                    <a:bodyPr/>
                    <a:lstStyle/>
                    <a:p>
                      <a:pPr algn="l"/>
                      <a:r>
                        <a:rPr sz="800">
                          <a:solidFill>
                            <a:srgbClr val="15324A"/>
                          </a:solidFill>
                          <a:latin typeface="Calibri"/>
                        </a:rPr>
                        <a:t>39549709</a:t>
                      </a:r>
                    </a:p>
                  </a:txBody>
                  <a:tcPr>
                    <a:solidFill>
                      <a:srgbClr val="EDF3F7"/>
                    </a:solidFill>
                  </a:tcPr>
                </a:tc>
                <a:tc>
                  <a:txBody>
                    <a:bodyPr/>
                    <a:lstStyle/>
                    <a:p>
                      <a:pPr algn="l"/>
                      <a:r>
                        <a:rPr sz="800">
                          <a:solidFill>
                            <a:srgbClr val="15324A"/>
                          </a:solidFill>
                          <a:latin typeface="Calibri"/>
                        </a:rPr>
                        <a:t>Shackleford A et al.</a:t>
                      </a:r>
                    </a:p>
                  </a:txBody>
                  <a:tcPr>
                    <a:solidFill>
                      <a:srgbClr val="EDF3F7"/>
                    </a:solidFill>
                  </a:tcPr>
                </a:tc>
                <a:tc>
                  <a:txBody>
                    <a:bodyPr/>
                    <a:lstStyle/>
                    <a:p>
                      <a:pPr algn="l"/>
                      <a:r>
                        <a:rPr sz="800">
                          <a:solidFill>
                            <a:srgbClr val="15324A"/>
                          </a:solidFill>
                          <a:latin typeface="Calibri"/>
                        </a:rPr>
                        <a:t>2025</a:t>
                      </a:r>
                    </a:p>
                  </a:txBody>
                  <a:tcPr>
                    <a:solidFill>
                      <a:srgbClr val="EDF3F7"/>
                    </a:solidFill>
                  </a:tcPr>
                </a:tc>
                <a:tc>
                  <a:txBody>
                    <a:bodyPr/>
                    <a:lstStyle/>
                    <a:p>
                      <a:pPr algn="l"/>
                      <a:r>
                        <a:rPr sz="800">
                          <a:solidFill>
                            <a:srgbClr val="15324A"/>
                          </a:solidFill>
                          <a:latin typeface="Calibri"/>
                        </a:rPr>
                        <a:t>The Lancet. Respiratory medici</a:t>
                      </a:r>
                    </a:p>
                  </a:txBody>
                  <a:tcPr>
                    <a:solidFill>
                      <a:srgbClr val="EDF3F7"/>
                    </a:solidFill>
                  </a:tcPr>
                </a:tc>
                <a:tc>
                  <a:txBody>
                    <a:bodyPr/>
                    <a:lstStyle/>
                    <a:p>
                      <a:pPr algn="l"/>
                      <a:r>
                        <a:rPr sz="800">
                          <a:solidFill>
                            <a:srgbClr val="15324A"/>
                          </a:solidFill>
                          <a:latin typeface="Calibri"/>
                        </a:rPr>
                        <a:t>Clinical remission attainment, definitions, and correlates among patie</a:t>
                      </a:r>
                    </a:p>
                  </a:txBody>
                  <a:tcPr>
                    <a:solidFill>
                      <a:srgbClr val="EDF3F7"/>
                    </a:solidFill>
                  </a:tcPr>
                </a:tc>
              </a:tr>
            </a:tbl>
          </a:graphicData>
        </a:graphic>
      </p:graphicFrame>
      <p:sp>
        <p:nvSpPr>
          <p:cNvPr id="6" name="TextBox 5"/>
          <p:cNvSpPr txBox="1"/>
          <p:nvPr/>
        </p:nvSpPr>
        <p:spPr>
          <a:xfrm>
            <a:off x="274320" y="6309360"/>
            <a:ext cx="10972800" cy="274320"/>
          </a:xfrm>
          <a:prstGeom prst="rect">
            <a:avLst/>
          </a:prstGeom>
          <a:noFill/>
        </p:spPr>
        <p:txBody>
          <a:bodyPr wrap="square">
            <a:spAutoFit/>
          </a:bodyPr>
          <a:lstStyle/>
          <a:p>
            <a:pPr algn="l"/>
            <a:r>
              <a:rPr sz="750" b="0">
                <a:solidFill>
                  <a:srgbClr val="5F6B7A"/>
                </a:solidFill>
                <a:latin typeface="Calibri"/>
              </a:rPr>
              <a:t>Source: PubMed / NCBI E-utilities (free access). All citations are auditable and traceable.</a:t>
            </a:r>
          </a:p>
        </p:txBody>
      </p:sp>
      <p:sp>
        <p:nvSpPr>
          <p:cNvPr id="7" name="TextBox 6"/>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8" name="TextBox 7"/>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Comparator Exemplars</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Representative completed and disrupted precedent studies from the matched cohort</a:t>
            </a:r>
          </a:p>
        </p:txBody>
      </p:sp>
      <p:graphicFrame>
        <p:nvGraphicFramePr>
          <p:cNvPr id="5" name="Table 4"/>
          <p:cNvGraphicFramePr>
            <a:graphicFrameLocks noGrp="1"/>
          </p:cNvGraphicFramePr>
          <p:nvPr/>
        </p:nvGraphicFramePr>
        <p:xfrm>
          <a:off x="228600" y="868680"/>
          <a:ext cx="11704320" cy="5577840"/>
        </p:xfrm>
        <a:graphic>
          <a:graphicData uri="http://schemas.openxmlformats.org/drawingml/2006/table">
            <a:tbl>
              <a:tblPr firstRow="1" bandRow="1">
                <a:tableStyleId>{5C22544A-7EE6-4342-B048-85BDC9FD1C3A}</a:tableStyleId>
              </a:tblPr>
              <a:tblGrid>
                <a:gridCol w="1950720"/>
                <a:gridCol w="1950720"/>
                <a:gridCol w="1950720"/>
                <a:gridCol w="1950720"/>
                <a:gridCol w="1950720"/>
                <a:gridCol w="1950720"/>
              </a:tblGrid>
              <a:tr h="507076">
                <a:tc>
                  <a:txBody>
                    <a:bodyPr/>
                    <a:lstStyle/>
                    <a:p>
                      <a:pPr algn="ctr"/>
                      <a:r>
                        <a:rPr b="1" sz="800">
                          <a:solidFill>
                            <a:srgbClr val="FFFFFF"/>
                          </a:solidFill>
                          <a:latin typeface="Calibri"/>
                        </a:rPr>
                        <a:t>Comparator Lens</a:t>
                      </a:r>
                    </a:p>
                  </a:txBody>
                  <a:tcPr>
                    <a:solidFill>
                      <a:srgbClr val="15324A"/>
                    </a:solidFill>
                  </a:tcPr>
                </a:tc>
                <a:tc>
                  <a:txBody>
                    <a:bodyPr/>
                    <a:lstStyle/>
                    <a:p>
                      <a:pPr algn="ctr"/>
                      <a:r>
                        <a:rPr b="1" sz="800">
                          <a:solidFill>
                            <a:srgbClr val="FFFFFF"/>
                          </a:solidFill>
                          <a:latin typeface="Calibri"/>
                        </a:rPr>
                        <a:t>Status</a:t>
                      </a:r>
                    </a:p>
                  </a:txBody>
                  <a:tcPr>
                    <a:solidFill>
                      <a:srgbClr val="15324A"/>
                    </a:solidFill>
                  </a:tcPr>
                </a:tc>
                <a:tc>
                  <a:txBody>
                    <a:bodyPr/>
                    <a:lstStyle/>
                    <a:p>
                      <a:pPr algn="ctr"/>
                      <a:r>
                        <a:rPr b="1" sz="800">
                          <a:solidFill>
                            <a:srgbClr val="FFFFFF"/>
                          </a:solidFill>
                          <a:latin typeface="Calibri"/>
                        </a:rPr>
                        <a:t>NCT ID</a:t>
                      </a:r>
                    </a:p>
                  </a:txBody>
                  <a:tcPr>
                    <a:solidFill>
                      <a:srgbClr val="15324A"/>
                    </a:solidFill>
                  </a:tcPr>
                </a:tc>
                <a:tc>
                  <a:txBody>
                    <a:bodyPr/>
                    <a:lstStyle/>
                    <a:p>
                      <a:pPr algn="ctr"/>
                      <a:r>
                        <a:rPr b="1" sz="800">
                          <a:solidFill>
                            <a:srgbClr val="FFFFFF"/>
                          </a:solidFill>
                          <a:latin typeface="Calibri"/>
                        </a:rPr>
                        <a:t>Title</a:t>
                      </a:r>
                    </a:p>
                  </a:txBody>
                  <a:tcPr>
                    <a:solidFill>
                      <a:srgbClr val="15324A"/>
                    </a:solidFill>
                  </a:tcPr>
                </a:tc>
                <a:tc>
                  <a:txBody>
                    <a:bodyPr/>
                    <a:lstStyle/>
                    <a:p>
                      <a:pPr algn="ctr"/>
                      <a:r>
                        <a:rPr b="1" sz="800">
                          <a:solidFill>
                            <a:srgbClr val="FFFFFF"/>
                          </a:solidFill>
                          <a:latin typeface="Calibri"/>
                        </a:rPr>
                        <a:t>Enrollment</a:t>
                      </a:r>
                    </a:p>
                  </a:txBody>
                  <a:tcPr>
                    <a:solidFill>
                      <a:srgbClr val="15324A"/>
                    </a:solidFill>
                  </a:tcPr>
                </a:tc>
                <a:tc>
                  <a:txBody>
                    <a:bodyPr/>
                    <a:lstStyle/>
                    <a:p>
                      <a:pPr algn="ctr"/>
                      <a:r>
                        <a:rPr b="1" sz="800">
                          <a:solidFill>
                            <a:srgbClr val="FFFFFF"/>
                          </a:solidFill>
                          <a:latin typeface="Calibri"/>
                        </a:rPr>
                        <a:t>Sponsor</a:t>
                      </a:r>
                    </a:p>
                  </a:txBody>
                  <a:tcPr>
                    <a:solidFill>
                      <a:srgbClr val="15324A"/>
                    </a:solidFill>
                  </a:tcPr>
                </a:tc>
              </a:tr>
              <a:tr h="507076">
                <a:tc>
                  <a:txBody>
                    <a:bodyPr/>
                    <a:lstStyle/>
                    <a:p>
                      <a:pPr algn="l"/>
                      <a:r>
                        <a:rPr sz="800">
                          <a:solidFill>
                            <a:srgbClr val="15324A"/>
                          </a:solidFill>
                          <a:latin typeface="Calibri"/>
                        </a:rPr>
                        <a:t>Completed Precedent</a:t>
                      </a:r>
                    </a:p>
                  </a:txBody>
                  <a:tcPr>
                    <a:solidFill>
                      <a:srgbClr val="FFFFFF"/>
                    </a:solidFill>
                  </a:tcPr>
                </a:tc>
                <a:tc>
                  <a:txBody>
                    <a:bodyPr/>
                    <a:lstStyle/>
                    <a:p>
                      <a:pPr algn="l"/>
                      <a:r>
                        <a:rPr sz="800">
                          <a:solidFill>
                            <a:srgbClr val="15324A"/>
                          </a:solidFill>
                          <a:latin typeface="Calibri"/>
                        </a:rPr>
                        <a:t>Completed</a:t>
                      </a:r>
                    </a:p>
                  </a:txBody>
                  <a:tcPr>
                    <a:solidFill>
                      <a:srgbClr val="FFFFFF"/>
                    </a:solidFill>
                  </a:tcPr>
                </a:tc>
                <a:tc>
                  <a:txBody>
                    <a:bodyPr/>
                    <a:lstStyle/>
                    <a:p>
                      <a:pPr algn="l"/>
                      <a:r>
                        <a:rPr sz="800">
                          <a:solidFill>
                            <a:srgbClr val="15324A"/>
                          </a:solidFill>
                          <a:latin typeface="Calibri"/>
                        </a:rPr>
                        <a:t>NCT01012739</a:t>
                      </a:r>
                    </a:p>
                  </a:txBody>
                  <a:tcPr>
                    <a:solidFill>
                      <a:srgbClr val="FFFFFF"/>
                    </a:solidFill>
                  </a:tcPr>
                </a:tc>
                <a:tc>
                  <a:txBody>
                    <a:bodyPr/>
                    <a:lstStyle/>
                    <a:p>
                      <a:pPr algn="l"/>
                      <a:r>
                        <a:rPr sz="800">
                          <a:solidFill>
                            <a:srgbClr val="15324A"/>
                          </a:solidFill>
                          <a:latin typeface="Calibri"/>
                        </a:rPr>
                        <a:t>Efficacy, Safety, Tolerability, and Pharmacokinetics of Indacaterol Maleate Via </a:t>
                      </a:r>
                    </a:p>
                  </a:txBody>
                  <a:tcPr>
                    <a:solidFill>
                      <a:srgbClr val="FFFFFF"/>
                    </a:solidFill>
                  </a:tcPr>
                </a:tc>
                <a:tc>
                  <a:txBody>
                    <a:bodyPr/>
                    <a:lstStyle/>
                    <a:p>
                      <a:pPr algn="l"/>
                      <a:r>
                        <a:rPr sz="800">
                          <a:solidFill>
                            <a:srgbClr val="15324A"/>
                          </a:solidFill>
                          <a:latin typeface="Calibri"/>
                        </a:rPr>
                        <a:t>35.0</a:t>
                      </a:r>
                    </a:p>
                  </a:txBody>
                  <a:tcPr>
                    <a:solidFill>
                      <a:srgbClr val="FFFFFF"/>
                    </a:solidFill>
                  </a:tcPr>
                </a:tc>
                <a:tc>
                  <a:txBody>
                    <a:bodyPr/>
                    <a:lstStyle/>
                    <a:p>
                      <a:pPr algn="l"/>
                      <a:r>
                        <a:rPr sz="800">
                          <a:solidFill>
                            <a:srgbClr val="15324A"/>
                          </a:solidFill>
                          <a:latin typeface="Calibri"/>
                        </a:rPr>
                        <a:t>Novartis Pharmaceuticals</a:t>
                      </a:r>
                    </a:p>
                  </a:txBody>
                  <a:tcPr>
                    <a:solidFill>
                      <a:srgbClr val="FFFFFF"/>
                    </a:solidFill>
                  </a:tcPr>
                </a:tc>
              </a:tr>
              <a:tr h="507076">
                <a:tc>
                  <a:txBody>
                    <a:bodyPr/>
                    <a:lstStyle/>
                    <a:p>
                      <a:pPr algn="l"/>
                      <a:r>
                        <a:rPr sz="800">
                          <a:solidFill>
                            <a:srgbClr val="15324A"/>
                          </a:solidFill>
                          <a:latin typeface="Calibri"/>
                        </a:rPr>
                        <a:t>Completed Precedent</a:t>
                      </a:r>
                    </a:p>
                  </a:txBody>
                  <a:tcPr>
                    <a:solidFill>
                      <a:srgbClr val="EDF3F7"/>
                    </a:solidFill>
                  </a:tcPr>
                </a:tc>
                <a:tc>
                  <a:txBody>
                    <a:bodyPr/>
                    <a:lstStyle/>
                    <a:p>
                      <a:pPr algn="l"/>
                      <a:r>
                        <a:rPr sz="800">
                          <a:solidFill>
                            <a:srgbClr val="15324A"/>
                          </a:solidFill>
                          <a:latin typeface="Calibri"/>
                        </a:rPr>
                        <a:t>Completed</a:t>
                      </a:r>
                    </a:p>
                  </a:txBody>
                  <a:tcPr>
                    <a:solidFill>
                      <a:srgbClr val="EDF3F7"/>
                    </a:solidFill>
                  </a:tcPr>
                </a:tc>
                <a:tc>
                  <a:txBody>
                    <a:bodyPr/>
                    <a:lstStyle/>
                    <a:p>
                      <a:pPr algn="l"/>
                      <a:r>
                        <a:rPr sz="800">
                          <a:solidFill>
                            <a:srgbClr val="15324A"/>
                          </a:solidFill>
                          <a:latin typeface="Calibri"/>
                        </a:rPr>
                        <a:t>NCT01959412</a:t>
                      </a:r>
                    </a:p>
                  </a:txBody>
                  <a:tcPr>
                    <a:solidFill>
                      <a:srgbClr val="EDF3F7"/>
                    </a:solidFill>
                  </a:tcPr>
                </a:tc>
                <a:tc>
                  <a:txBody>
                    <a:bodyPr/>
                    <a:lstStyle/>
                    <a:p>
                      <a:pPr algn="l"/>
                      <a:r>
                        <a:rPr sz="800">
                          <a:solidFill>
                            <a:srgbClr val="15324A"/>
                          </a:solidFill>
                          <a:latin typeface="Calibri"/>
                        </a:rPr>
                        <a:t>Crossover Study to Evaluate the Efficacy, Safety and Tolerability of Different D</a:t>
                      </a:r>
                    </a:p>
                  </a:txBody>
                  <a:tcPr>
                    <a:solidFill>
                      <a:srgbClr val="EDF3F7"/>
                    </a:solidFill>
                  </a:tcPr>
                </a:tc>
                <a:tc>
                  <a:txBody>
                    <a:bodyPr/>
                    <a:lstStyle/>
                    <a:p>
                      <a:pPr algn="l"/>
                      <a:r>
                        <a:rPr sz="800">
                          <a:solidFill>
                            <a:srgbClr val="15324A"/>
                          </a:solidFill>
                          <a:latin typeface="Calibri"/>
                        </a:rPr>
                        <a:t>91.0</a:t>
                      </a:r>
                    </a:p>
                  </a:txBody>
                  <a:tcPr>
                    <a:solidFill>
                      <a:srgbClr val="EDF3F7"/>
                    </a:solidFill>
                  </a:tcPr>
                </a:tc>
                <a:tc>
                  <a:txBody>
                    <a:bodyPr/>
                    <a:lstStyle/>
                    <a:p>
                      <a:pPr algn="l"/>
                      <a:r>
                        <a:rPr sz="800">
                          <a:solidFill>
                            <a:srgbClr val="15324A"/>
                          </a:solidFill>
                          <a:latin typeface="Calibri"/>
                        </a:rPr>
                        <a:t>Novartis Pharmaceuticals</a:t>
                      </a:r>
                    </a:p>
                  </a:txBody>
                  <a:tcPr>
                    <a:solidFill>
                      <a:srgbClr val="EDF3F7"/>
                    </a:solidFill>
                  </a:tcPr>
                </a:tc>
              </a:tr>
              <a:tr h="507076">
                <a:tc>
                  <a:txBody>
                    <a:bodyPr/>
                    <a:lstStyle/>
                    <a:p>
                      <a:pPr algn="l"/>
                      <a:r>
                        <a:rPr sz="800">
                          <a:solidFill>
                            <a:srgbClr val="15324A"/>
                          </a:solidFill>
                          <a:latin typeface="Calibri"/>
                        </a:rPr>
                        <a:t>Completed Precedent</a:t>
                      </a:r>
                    </a:p>
                  </a:txBody>
                  <a:tcPr>
                    <a:solidFill>
                      <a:srgbClr val="FFFFFF"/>
                    </a:solidFill>
                  </a:tcPr>
                </a:tc>
                <a:tc>
                  <a:txBody>
                    <a:bodyPr/>
                    <a:lstStyle/>
                    <a:p>
                      <a:pPr algn="l"/>
                      <a:r>
                        <a:rPr sz="800">
                          <a:solidFill>
                            <a:srgbClr val="15324A"/>
                          </a:solidFill>
                          <a:latin typeface="Calibri"/>
                        </a:rPr>
                        <a:t>Completed</a:t>
                      </a:r>
                    </a:p>
                  </a:txBody>
                  <a:tcPr>
                    <a:solidFill>
                      <a:srgbClr val="FFFFFF"/>
                    </a:solidFill>
                  </a:tcPr>
                </a:tc>
                <a:tc>
                  <a:txBody>
                    <a:bodyPr/>
                    <a:lstStyle/>
                    <a:p>
                      <a:pPr algn="l"/>
                      <a:r>
                        <a:rPr sz="800">
                          <a:solidFill>
                            <a:srgbClr val="15324A"/>
                          </a:solidFill>
                          <a:latin typeface="Calibri"/>
                        </a:rPr>
                        <a:t>NCT01820481</a:t>
                      </a:r>
                    </a:p>
                  </a:txBody>
                  <a:tcPr>
                    <a:solidFill>
                      <a:srgbClr val="FFFFFF"/>
                    </a:solidFill>
                  </a:tcPr>
                </a:tc>
                <a:tc>
                  <a:txBody>
                    <a:bodyPr/>
                    <a:lstStyle/>
                    <a:p>
                      <a:pPr algn="l"/>
                      <a:r>
                        <a:rPr sz="800">
                          <a:solidFill>
                            <a:srgbClr val="15324A"/>
                          </a:solidFill>
                          <a:latin typeface="Calibri"/>
                        </a:rPr>
                        <a:t>Safety and Efficacy of WIN-901X in Asthma</a:t>
                      </a:r>
                    </a:p>
                  </a:txBody>
                  <a:tcPr>
                    <a:solidFill>
                      <a:srgbClr val="FFFFFF"/>
                    </a:solidFill>
                  </a:tcPr>
                </a:tc>
                <a:tc>
                  <a:txBody>
                    <a:bodyPr/>
                    <a:lstStyle/>
                    <a:p>
                      <a:pPr algn="l"/>
                      <a:r>
                        <a:rPr sz="800">
                          <a:solidFill>
                            <a:srgbClr val="15324A"/>
                          </a:solidFill>
                          <a:latin typeface="Calibri"/>
                        </a:rPr>
                        <a:t>209.0</a:t>
                      </a:r>
                    </a:p>
                  </a:txBody>
                  <a:tcPr>
                    <a:solidFill>
                      <a:srgbClr val="FFFFFF"/>
                    </a:solidFill>
                  </a:tcPr>
                </a:tc>
                <a:tc>
                  <a:txBody>
                    <a:bodyPr/>
                    <a:lstStyle/>
                    <a:p>
                      <a:pPr algn="l"/>
                      <a:r>
                        <a:rPr sz="800">
                          <a:solidFill>
                            <a:srgbClr val="15324A"/>
                          </a:solidFill>
                          <a:latin typeface="Calibri"/>
                        </a:rPr>
                        <a:t>Whanin Pharmaceutical Company</a:t>
                      </a:r>
                    </a:p>
                  </a:txBody>
                  <a:tcPr>
                    <a:solidFill>
                      <a:srgbClr val="FFFFFF"/>
                    </a:solidFill>
                  </a:tcPr>
                </a:tc>
              </a:tr>
              <a:tr h="507076">
                <a:tc>
                  <a:txBody>
                    <a:bodyPr/>
                    <a:lstStyle/>
                    <a:p>
                      <a:pPr algn="l"/>
                      <a:r>
                        <a:rPr sz="800">
                          <a:solidFill>
                            <a:srgbClr val="15324A"/>
                          </a:solidFill>
                          <a:latin typeface="Calibri"/>
                        </a:rPr>
                        <a:t>Completed Precedent</a:t>
                      </a:r>
                    </a:p>
                  </a:txBody>
                  <a:tcPr>
                    <a:solidFill>
                      <a:srgbClr val="EDF3F7"/>
                    </a:solidFill>
                  </a:tcPr>
                </a:tc>
                <a:tc>
                  <a:txBody>
                    <a:bodyPr/>
                    <a:lstStyle/>
                    <a:p>
                      <a:pPr algn="l"/>
                      <a:r>
                        <a:rPr sz="800">
                          <a:solidFill>
                            <a:srgbClr val="15324A"/>
                          </a:solidFill>
                          <a:latin typeface="Calibri"/>
                        </a:rPr>
                        <a:t>Completed</a:t>
                      </a:r>
                    </a:p>
                  </a:txBody>
                  <a:tcPr>
                    <a:solidFill>
                      <a:srgbClr val="EDF3F7"/>
                    </a:solidFill>
                  </a:tcPr>
                </a:tc>
                <a:tc>
                  <a:txBody>
                    <a:bodyPr/>
                    <a:lstStyle/>
                    <a:p>
                      <a:pPr algn="l"/>
                      <a:r>
                        <a:rPr sz="800">
                          <a:solidFill>
                            <a:srgbClr val="15324A"/>
                          </a:solidFill>
                          <a:latin typeface="Calibri"/>
                        </a:rPr>
                        <a:t>NCT00980200</a:t>
                      </a:r>
                    </a:p>
                  </a:txBody>
                  <a:tcPr>
                    <a:solidFill>
                      <a:srgbClr val="EDF3F7"/>
                    </a:solidFill>
                  </a:tcPr>
                </a:tc>
                <a:tc>
                  <a:txBody>
                    <a:bodyPr/>
                    <a:lstStyle/>
                    <a:p>
                      <a:pPr algn="l"/>
                      <a:r>
                        <a:rPr sz="800">
                          <a:solidFill>
                            <a:srgbClr val="15324A"/>
                          </a:solidFill>
                          <a:latin typeface="Calibri"/>
                        </a:rPr>
                        <a:t>Efficacy and Safety Study in Subjects With Asthma</a:t>
                      </a:r>
                    </a:p>
                  </a:txBody>
                  <a:tcPr>
                    <a:solidFill>
                      <a:srgbClr val="EDF3F7"/>
                    </a:solidFill>
                  </a:tcPr>
                </a:tc>
                <a:tc>
                  <a:txBody>
                    <a:bodyPr/>
                    <a:lstStyle/>
                    <a:p>
                      <a:pPr algn="l"/>
                      <a:r>
                        <a:rPr sz="800">
                          <a:solidFill>
                            <a:srgbClr val="15324A"/>
                          </a:solidFill>
                          <a:latin typeface="Calibri"/>
                        </a:rPr>
                        <a:t>75.0</a:t>
                      </a:r>
                    </a:p>
                  </a:txBody>
                  <a:tcPr>
                    <a:solidFill>
                      <a:srgbClr val="EDF3F7"/>
                    </a:solidFill>
                  </a:tcPr>
                </a:tc>
                <a:tc>
                  <a:txBody>
                    <a:bodyPr/>
                    <a:lstStyle/>
                    <a:p>
                      <a:pPr algn="l"/>
                      <a:r>
                        <a:rPr sz="800">
                          <a:solidFill>
                            <a:srgbClr val="15324A"/>
                          </a:solidFill>
                          <a:latin typeface="Calibri"/>
                        </a:rPr>
                        <a:t>GlaxoSmithKline</a:t>
                      </a:r>
                    </a:p>
                  </a:txBody>
                  <a:tcPr>
                    <a:solidFill>
                      <a:srgbClr val="EDF3F7"/>
                    </a:solidFill>
                  </a:tcPr>
                </a:tc>
              </a:tr>
              <a:tr h="507076">
                <a:tc>
                  <a:txBody>
                    <a:bodyPr/>
                    <a:lstStyle/>
                    <a:p>
                      <a:pPr algn="l"/>
                      <a:r>
                        <a:rPr sz="800">
                          <a:solidFill>
                            <a:srgbClr val="15324A"/>
                          </a:solidFill>
                          <a:latin typeface="Calibri"/>
                        </a:rPr>
                        <a:t>Disrupted Precedent</a:t>
                      </a:r>
                    </a:p>
                  </a:txBody>
                  <a:tcPr>
                    <a:solidFill>
                      <a:srgbClr val="FFFFFF"/>
                    </a:solidFill>
                  </a:tcPr>
                </a:tc>
                <a:tc>
                  <a:txBody>
                    <a:bodyPr/>
                    <a:lstStyle/>
                    <a:p>
                      <a:pPr algn="l"/>
                      <a:r>
                        <a:rPr sz="800">
                          <a:solidFill>
                            <a:srgbClr val="15324A"/>
                          </a:solidFill>
                          <a:latin typeface="Calibri"/>
                        </a:rPr>
                        <a:t>Withdrawn</a:t>
                      </a:r>
                    </a:p>
                  </a:txBody>
                  <a:tcPr>
                    <a:solidFill>
                      <a:srgbClr val="FFFFFF"/>
                    </a:solidFill>
                  </a:tcPr>
                </a:tc>
                <a:tc>
                  <a:txBody>
                    <a:bodyPr/>
                    <a:lstStyle/>
                    <a:p>
                      <a:pPr algn="l"/>
                      <a:r>
                        <a:rPr sz="800">
                          <a:solidFill>
                            <a:srgbClr val="15324A"/>
                          </a:solidFill>
                          <a:latin typeface="Calibri"/>
                        </a:rPr>
                        <a:t>NCT01435902</a:t>
                      </a:r>
                    </a:p>
                  </a:txBody>
                  <a:tcPr>
                    <a:solidFill>
                      <a:srgbClr val="FFFFFF"/>
                    </a:solidFill>
                  </a:tcPr>
                </a:tc>
                <a:tc>
                  <a:txBody>
                    <a:bodyPr/>
                    <a:lstStyle/>
                    <a:p>
                      <a:pPr algn="l"/>
                      <a:r>
                        <a:rPr sz="800">
                          <a:solidFill>
                            <a:srgbClr val="15324A"/>
                          </a:solidFill>
                          <a:latin typeface="Calibri"/>
                        </a:rPr>
                        <a:t>A Study of a New Asthma Medicine in Asthmatics Whose Asthma Worsens With Exercis</a:t>
                      </a:r>
                    </a:p>
                  </a:txBody>
                  <a:tcPr>
                    <a:solidFill>
                      <a:srgbClr val="FFFFFF"/>
                    </a:solidFill>
                  </a:tcPr>
                </a:tc>
                <a:tc>
                  <a:txBody>
                    <a:bodyPr/>
                    <a:lstStyle/>
                    <a:p>
                      <a:pPr algn="l"/>
                      <a:r>
                        <a:rPr sz="800">
                          <a:solidFill>
                            <a:srgbClr val="15324A"/>
                          </a:solidFill>
                          <a:latin typeface="Calibri"/>
                        </a:rPr>
                        <a:t>0.0</a:t>
                      </a:r>
                    </a:p>
                  </a:txBody>
                  <a:tcPr>
                    <a:solidFill>
                      <a:srgbClr val="FFFFFF"/>
                    </a:solidFill>
                  </a:tcPr>
                </a:tc>
                <a:tc>
                  <a:txBody>
                    <a:bodyPr/>
                    <a:lstStyle/>
                    <a:p>
                      <a:pPr algn="l"/>
                      <a:r>
                        <a:rPr sz="800">
                          <a:solidFill>
                            <a:srgbClr val="15324A"/>
                          </a:solidFill>
                          <a:latin typeface="Calibri"/>
                        </a:rPr>
                        <a:t>GlaxoSmithKline</a:t>
                      </a:r>
                    </a:p>
                  </a:txBody>
                  <a:tcPr>
                    <a:solidFill>
                      <a:srgbClr val="FFFFFF"/>
                    </a:solidFill>
                  </a:tcPr>
                </a:tc>
              </a:tr>
              <a:tr h="507076">
                <a:tc>
                  <a:txBody>
                    <a:bodyPr/>
                    <a:lstStyle/>
                    <a:p>
                      <a:pPr algn="l"/>
                      <a:r>
                        <a:rPr sz="800">
                          <a:solidFill>
                            <a:srgbClr val="15324A"/>
                          </a:solidFill>
                          <a:latin typeface="Calibri"/>
                        </a:rPr>
                        <a:t>Disrupted Precedent</a:t>
                      </a:r>
                    </a:p>
                  </a:txBody>
                  <a:tcPr>
                    <a:solidFill>
                      <a:srgbClr val="EDF3F7"/>
                    </a:solidFill>
                  </a:tcPr>
                </a:tc>
                <a:tc>
                  <a:txBody>
                    <a:bodyPr/>
                    <a:lstStyle/>
                    <a:p>
                      <a:pPr algn="l"/>
                      <a:r>
                        <a:rPr sz="800">
                          <a:solidFill>
                            <a:srgbClr val="15324A"/>
                          </a:solidFill>
                          <a:latin typeface="Calibri"/>
                        </a:rPr>
                        <a:t>Withdrawn</a:t>
                      </a:r>
                    </a:p>
                  </a:txBody>
                  <a:tcPr>
                    <a:solidFill>
                      <a:srgbClr val="EDF3F7"/>
                    </a:solidFill>
                  </a:tcPr>
                </a:tc>
                <a:tc>
                  <a:txBody>
                    <a:bodyPr/>
                    <a:lstStyle/>
                    <a:p>
                      <a:pPr algn="l"/>
                      <a:r>
                        <a:rPr sz="800">
                          <a:solidFill>
                            <a:srgbClr val="15324A"/>
                          </a:solidFill>
                          <a:latin typeface="Calibri"/>
                        </a:rPr>
                        <a:t>NCT01923272</a:t>
                      </a:r>
                    </a:p>
                  </a:txBody>
                  <a:tcPr>
                    <a:solidFill>
                      <a:srgbClr val="EDF3F7"/>
                    </a:solidFill>
                  </a:tcPr>
                </a:tc>
                <a:tc>
                  <a:txBody>
                    <a:bodyPr/>
                    <a:lstStyle/>
                    <a:p>
                      <a:pPr algn="l"/>
                      <a:r>
                        <a:rPr sz="800">
                          <a:solidFill>
                            <a:srgbClr val="15324A"/>
                          </a:solidFill>
                          <a:latin typeface="Calibri"/>
                        </a:rPr>
                        <a:t>Non-Invasive Neurostimulation of the Vagus Nerve With the AlphaCore Device for t</a:t>
                      </a:r>
                    </a:p>
                  </a:txBody>
                  <a:tcPr>
                    <a:solidFill>
                      <a:srgbClr val="EDF3F7"/>
                    </a:solidFill>
                  </a:tcPr>
                </a:tc>
                <a:tc>
                  <a:txBody>
                    <a:bodyPr/>
                    <a:lstStyle/>
                    <a:p>
                      <a:pPr algn="l"/>
                      <a:r>
                        <a:rPr sz="800">
                          <a:solidFill>
                            <a:srgbClr val="15324A"/>
                          </a:solidFill>
                          <a:latin typeface="Calibri"/>
                        </a:rPr>
                        <a:t>0.0</a:t>
                      </a:r>
                    </a:p>
                  </a:txBody>
                  <a:tcPr>
                    <a:solidFill>
                      <a:srgbClr val="EDF3F7"/>
                    </a:solidFill>
                  </a:tcPr>
                </a:tc>
                <a:tc>
                  <a:txBody>
                    <a:bodyPr/>
                    <a:lstStyle/>
                    <a:p>
                      <a:pPr algn="l"/>
                      <a:r>
                        <a:rPr sz="800">
                          <a:solidFill>
                            <a:srgbClr val="15324A"/>
                          </a:solidFill>
                          <a:latin typeface="Calibri"/>
                        </a:rPr>
                        <a:t>ElectroCore INC</a:t>
                      </a:r>
                    </a:p>
                  </a:txBody>
                  <a:tcPr>
                    <a:solidFill>
                      <a:srgbClr val="EDF3F7"/>
                    </a:solidFill>
                  </a:tcPr>
                </a:tc>
              </a:tr>
              <a:tr h="507076">
                <a:tc>
                  <a:txBody>
                    <a:bodyPr/>
                    <a:lstStyle/>
                    <a:p>
                      <a:pPr algn="l"/>
                      <a:r>
                        <a:rPr sz="800">
                          <a:solidFill>
                            <a:srgbClr val="15324A"/>
                          </a:solidFill>
                          <a:latin typeface="Calibri"/>
                        </a:rPr>
                        <a:t>Disrupted Precedent</a:t>
                      </a:r>
                    </a:p>
                  </a:txBody>
                  <a:tcPr>
                    <a:solidFill>
                      <a:srgbClr val="FFFFFF"/>
                    </a:solidFill>
                  </a:tcPr>
                </a:tc>
                <a:tc>
                  <a:txBody>
                    <a:bodyPr/>
                    <a:lstStyle/>
                    <a:p>
                      <a:pPr algn="l"/>
                      <a:r>
                        <a:rPr sz="800">
                          <a:solidFill>
                            <a:srgbClr val="15324A"/>
                          </a:solidFill>
                          <a:latin typeface="Calibri"/>
                        </a:rPr>
                        <a:t>Withdrawn</a:t>
                      </a:r>
                    </a:p>
                  </a:txBody>
                  <a:tcPr>
                    <a:solidFill>
                      <a:srgbClr val="FFFFFF"/>
                    </a:solidFill>
                  </a:tcPr>
                </a:tc>
                <a:tc>
                  <a:txBody>
                    <a:bodyPr/>
                    <a:lstStyle/>
                    <a:p>
                      <a:pPr algn="l"/>
                      <a:r>
                        <a:rPr sz="800">
                          <a:solidFill>
                            <a:srgbClr val="15324A"/>
                          </a:solidFill>
                          <a:latin typeface="Calibri"/>
                        </a:rPr>
                        <a:t>NCT01845623</a:t>
                      </a:r>
                    </a:p>
                  </a:txBody>
                  <a:tcPr>
                    <a:solidFill>
                      <a:srgbClr val="FFFFFF"/>
                    </a:solidFill>
                  </a:tcPr>
                </a:tc>
                <a:tc>
                  <a:txBody>
                    <a:bodyPr/>
                    <a:lstStyle/>
                    <a:p>
                      <a:pPr algn="l"/>
                      <a:r>
                        <a:rPr sz="800">
                          <a:solidFill>
                            <a:srgbClr val="15324A"/>
                          </a:solidFill>
                          <a:latin typeface="Calibri"/>
                        </a:rPr>
                        <a:t>A Study to Evaluate the Effects of Indacaterol Maleate (QAB149) as a New Formula</a:t>
                      </a:r>
                    </a:p>
                  </a:txBody>
                  <a:tcPr>
                    <a:solidFill>
                      <a:srgbClr val="FFFFFF"/>
                    </a:solidFill>
                  </a:tcPr>
                </a:tc>
                <a:tc>
                  <a:txBody>
                    <a:bodyPr/>
                    <a:lstStyle/>
                    <a:p>
                      <a:pPr algn="l"/>
                      <a:r>
                        <a:rPr sz="800">
                          <a:solidFill>
                            <a:srgbClr val="15324A"/>
                          </a:solidFill>
                          <a:latin typeface="Calibri"/>
                        </a:rPr>
                        <a:t>0.0</a:t>
                      </a:r>
                    </a:p>
                  </a:txBody>
                  <a:tcPr>
                    <a:solidFill>
                      <a:srgbClr val="FFFFFF"/>
                    </a:solidFill>
                  </a:tcPr>
                </a:tc>
                <a:tc>
                  <a:txBody>
                    <a:bodyPr/>
                    <a:lstStyle/>
                    <a:p>
                      <a:pPr algn="l"/>
                      <a:r>
                        <a:rPr sz="800">
                          <a:solidFill>
                            <a:srgbClr val="15324A"/>
                          </a:solidFill>
                          <a:latin typeface="Calibri"/>
                        </a:rPr>
                        <a:t>Novartis Pharmaceuticals</a:t>
                      </a:r>
                    </a:p>
                  </a:txBody>
                  <a:tcPr>
                    <a:solidFill>
                      <a:srgbClr val="FFFFFF"/>
                    </a:solidFill>
                  </a:tcPr>
                </a:tc>
              </a:tr>
              <a:tr h="507076">
                <a:tc>
                  <a:txBody>
                    <a:bodyPr/>
                    <a:lstStyle/>
                    <a:p>
                      <a:pPr algn="l"/>
                      <a:r>
                        <a:rPr sz="800">
                          <a:solidFill>
                            <a:srgbClr val="15324A"/>
                          </a:solidFill>
                          <a:latin typeface="Calibri"/>
                        </a:rPr>
                        <a:t>Disrupted Precedent</a:t>
                      </a:r>
                    </a:p>
                  </a:txBody>
                  <a:tcPr>
                    <a:solidFill>
                      <a:srgbClr val="EDF3F7"/>
                    </a:solidFill>
                  </a:tcPr>
                </a:tc>
                <a:tc>
                  <a:txBody>
                    <a:bodyPr/>
                    <a:lstStyle/>
                    <a:p>
                      <a:pPr algn="l"/>
                      <a:r>
                        <a:rPr sz="800">
                          <a:solidFill>
                            <a:srgbClr val="15324A"/>
                          </a:solidFill>
                          <a:latin typeface="Calibri"/>
                        </a:rPr>
                        <a:t>Withdrawn</a:t>
                      </a:r>
                    </a:p>
                  </a:txBody>
                  <a:tcPr>
                    <a:solidFill>
                      <a:srgbClr val="EDF3F7"/>
                    </a:solidFill>
                  </a:tcPr>
                </a:tc>
                <a:tc>
                  <a:txBody>
                    <a:bodyPr/>
                    <a:lstStyle/>
                    <a:p>
                      <a:pPr algn="l"/>
                      <a:r>
                        <a:rPr sz="800">
                          <a:solidFill>
                            <a:srgbClr val="15324A"/>
                          </a:solidFill>
                          <a:latin typeface="Calibri"/>
                        </a:rPr>
                        <a:t>NCT03680976</a:t>
                      </a:r>
                    </a:p>
                  </a:txBody>
                  <a:tcPr>
                    <a:solidFill>
                      <a:srgbClr val="EDF3F7"/>
                    </a:solidFill>
                  </a:tcPr>
                </a:tc>
                <a:tc>
                  <a:txBody>
                    <a:bodyPr/>
                    <a:lstStyle/>
                    <a:p>
                      <a:pPr algn="l"/>
                      <a:r>
                        <a:rPr sz="800">
                          <a:solidFill>
                            <a:srgbClr val="15324A"/>
                          </a:solidFill>
                          <a:latin typeface="Calibri"/>
                        </a:rPr>
                        <a:t>Anti-Inflammatory Lipid Mediators in Asthma</a:t>
                      </a:r>
                    </a:p>
                  </a:txBody>
                  <a:tcPr>
                    <a:solidFill>
                      <a:srgbClr val="EDF3F7"/>
                    </a:solidFill>
                  </a:tcPr>
                </a:tc>
                <a:tc>
                  <a:txBody>
                    <a:bodyPr/>
                    <a:lstStyle/>
                    <a:p>
                      <a:pPr algn="l"/>
                      <a:r>
                        <a:rPr sz="800">
                          <a:solidFill>
                            <a:srgbClr val="15324A"/>
                          </a:solidFill>
                          <a:latin typeface="Calibri"/>
                        </a:rPr>
                        <a:t>0.0</a:t>
                      </a:r>
                    </a:p>
                  </a:txBody>
                  <a:tcPr>
                    <a:solidFill>
                      <a:srgbClr val="EDF3F7"/>
                    </a:solidFill>
                  </a:tcPr>
                </a:tc>
                <a:tc>
                  <a:txBody>
                    <a:bodyPr/>
                    <a:lstStyle/>
                    <a:p>
                      <a:pPr algn="l"/>
                      <a:r>
                        <a:rPr sz="800">
                          <a:solidFill>
                            <a:srgbClr val="15324A"/>
                          </a:solidFill>
                          <a:latin typeface="Calibri"/>
                        </a:rPr>
                        <a:t>Sally E. Wenzel MD</a:t>
                      </a:r>
                    </a:p>
                  </a:txBody>
                  <a:tcPr>
                    <a:solidFill>
                      <a:srgbClr val="EDF3F7"/>
                    </a:solidFill>
                  </a:tcPr>
                </a:tc>
              </a:tr>
              <a:tr h="507076">
                <a:tc>
                  <a:txBody>
                    <a:bodyPr/>
                    <a:lstStyle/>
                    <a:p>
                      <a:pPr algn="l"/>
                      <a:r>
                        <a:rPr sz="800">
                          <a:solidFill>
                            <a:srgbClr val="15324A"/>
                          </a:solidFill>
                          <a:latin typeface="Calibri"/>
                        </a:rPr>
                        <a:t>Active Context</a:t>
                      </a:r>
                    </a:p>
                  </a:txBody>
                  <a:tcPr>
                    <a:solidFill>
                      <a:srgbClr val="FFFFFF"/>
                    </a:solidFill>
                  </a:tcPr>
                </a:tc>
                <a:tc>
                  <a:txBody>
                    <a:bodyPr/>
                    <a:lstStyle/>
                    <a:p>
                      <a:pPr algn="l"/>
                      <a:r>
                        <a:rPr sz="800">
                          <a:solidFill>
                            <a:srgbClr val="15324A"/>
                          </a:solidFill>
                          <a:latin typeface="Calibri"/>
                        </a:rPr>
                        <a:t>Not Yet Recruiting</a:t>
                      </a:r>
                    </a:p>
                  </a:txBody>
                  <a:tcPr>
                    <a:solidFill>
                      <a:srgbClr val="FFFFFF"/>
                    </a:solidFill>
                  </a:tcPr>
                </a:tc>
                <a:tc>
                  <a:txBody>
                    <a:bodyPr/>
                    <a:lstStyle/>
                    <a:p>
                      <a:pPr algn="l"/>
                      <a:r>
                        <a:rPr sz="800">
                          <a:solidFill>
                            <a:srgbClr val="15324A"/>
                          </a:solidFill>
                          <a:latin typeface="Calibri"/>
                        </a:rPr>
                        <a:t>NCT06618105</a:t>
                      </a:r>
                    </a:p>
                  </a:txBody>
                  <a:tcPr>
                    <a:solidFill>
                      <a:srgbClr val="FFFFFF"/>
                    </a:solidFill>
                  </a:tcPr>
                </a:tc>
                <a:tc>
                  <a:txBody>
                    <a:bodyPr/>
                    <a:lstStyle/>
                    <a:p>
                      <a:pPr algn="l"/>
                      <a:r>
                        <a:rPr sz="800">
                          <a:solidFill>
                            <a:srgbClr val="15324A"/>
                          </a:solidFill>
                          <a:latin typeface="Calibri"/>
                        </a:rPr>
                        <a:t>Bronchoprovocation Study to Demonstrate the Pharmacodynamic Bioequivalence of Al</a:t>
                      </a:r>
                    </a:p>
                  </a:txBody>
                  <a:tcPr>
                    <a:solidFill>
                      <a:srgbClr val="FFFFFF"/>
                    </a:solidFill>
                  </a:tcPr>
                </a:tc>
                <a:tc>
                  <a:txBody>
                    <a:bodyPr/>
                    <a:lstStyle/>
                    <a:p>
                      <a:pPr algn="l"/>
                      <a:r>
                        <a:rPr sz="800">
                          <a:solidFill>
                            <a:srgbClr val="15324A"/>
                          </a:solidFill>
                          <a:latin typeface="Calibri"/>
                        </a:rPr>
                        <a:t>144.0</a:t>
                      </a:r>
                    </a:p>
                  </a:txBody>
                  <a:tcPr>
                    <a:solidFill>
                      <a:srgbClr val="FFFFFF"/>
                    </a:solidFill>
                  </a:tcPr>
                </a:tc>
                <a:tc>
                  <a:txBody>
                    <a:bodyPr/>
                    <a:lstStyle/>
                    <a:p>
                      <a:pPr algn="l"/>
                      <a:r>
                        <a:rPr sz="800">
                          <a:solidFill>
                            <a:srgbClr val="15324A"/>
                          </a:solidFill>
                          <a:latin typeface="Calibri"/>
                        </a:rPr>
                        <a:t>Macleods Pharmaceuticals Ltd</a:t>
                      </a:r>
                    </a:p>
                  </a:txBody>
                  <a:tcPr>
                    <a:solidFill>
                      <a:srgbClr val="FFFFFF"/>
                    </a:solidFill>
                  </a:tcPr>
                </a:tc>
              </a:tr>
              <a:tr h="507080">
                <a:tc>
                  <a:txBody>
                    <a:bodyPr/>
                    <a:lstStyle/>
                    <a:p>
                      <a:pPr algn="l"/>
                      <a:r>
                        <a:rPr sz="800">
                          <a:solidFill>
                            <a:srgbClr val="15324A"/>
                          </a:solidFill>
                          <a:latin typeface="Calibri"/>
                        </a:rPr>
                        <a:t>Active Context</a:t>
                      </a:r>
                    </a:p>
                  </a:txBody>
                  <a:tcPr>
                    <a:solidFill>
                      <a:srgbClr val="EDF3F7"/>
                    </a:solidFill>
                  </a:tcPr>
                </a:tc>
                <a:tc>
                  <a:txBody>
                    <a:bodyPr/>
                    <a:lstStyle/>
                    <a:p>
                      <a:pPr algn="l"/>
                      <a:r>
                        <a:rPr sz="800">
                          <a:solidFill>
                            <a:srgbClr val="15324A"/>
                          </a:solidFill>
                          <a:latin typeface="Calibri"/>
                        </a:rPr>
                        <a:t>Enrolling By Invitation</a:t>
                      </a:r>
                    </a:p>
                  </a:txBody>
                  <a:tcPr>
                    <a:solidFill>
                      <a:srgbClr val="EDF3F7"/>
                    </a:solidFill>
                  </a:tcPr>
                </a:tc>
                <a:tc>
                  <a:txBody>
                    <a:bodyPr/>
                    <a:lstStyle/>
                    <a:p>
                      <a:pPr algn="l"/>
                      <a:r>
                        <a:rPr sz="800">
                          <a:solidFill>
                            <a:srgbClr val="15324A"/>
                          </a:solidFill>
                          <a:latin typeface="Calibri"/>
                        </a:rPr>
                        <a:t>NCT06820749</a:t>
                      </a:r>
                    </a:p>
                  </a:txBody>
                  <a:tcPr>
                    <a:solidFill>
                      <a:srgbClr val="EDF3F7"/>
                    </a:solidFill>
                  </a:tcPr>
                </a:tc>
                <a:tc>
                  <a:txBody>
                    <a:bodyPr/>
                    <a:lstStyle/>
                    <a:p>
                      <a:pPr algn="l"/>
                      <a:r>
                        <a:rPr sz="800">
                          <a:solidFill>
                            <a:srgbClr val="15324A"/>
                          </a:solidFill>
                          <a:latin typeface="Calibri"/>
                        </a:rPr>
                        <a:t>A Study to Evaluate the Efficacy and Safety of HSK31858 Tablets in Patients with</a:t>
                      </a:r>
                    </a:p>
                  </a:txBody>
                  <a:tcPr>
                    <a:solidFill>
                      <a:srgbClr val="EDF3F7"/>
                    </a:solidFill>
                  </a:tcPr>
                </a:tc>
                <a:tc>
                  <a:txBody>
                    <a:bodyPr/>
                    <a:lstStyle/>
                    <a:p>
                      <a:pPr algn="l"/>
                      <a:r>
                        <a:rPr sz="800">
                          <a:solidFill>
                            <a:srgbClr val="15324A"/>
                          </a:solidFill>
                          <a:latin typeface="Calibri"/>
                        </a:rPr>
                        <a:t>309.0</a:t>
                      </a:r>
                    </a:p>
                  </a:txBody>
                  <a:tcPr>
                    <a:solidFill>
                      <a:srgbClr val="EDF3F7"/>
                    </a:solidFill>
                  </a:tcPr>
                </a:tc>
                <a:tc>
                  <a:txBody>
                    <a:bodyPr/>
                    <a:lstStyle/>
                    <a:p>
                      <a:pPr algn="l"/>
                      <a:r>
                        <a:rPr sz="800">
                          <a:solidFill>
                            <a:srgbClr val="15324A"/>
                          </a:solidFill>
                          <a:latin typeface="Calibri"/>
                        </a:rPr>
                        <a:t>Haisco Pharmaceutical Group Co., Ltd.</a:t>
                      </a:r>
                    </a:p>
                  </a:txBody>
                  <a:tcPr>
                    <a:solidFill>
                      <a:srgbClr val="EDF3F7"/>
                    </a:solidFill>
                  </a:tcPr>
                </a:tc>
              </a:tr>
            </a:tbl>
          </a:graphicData>
        </a:graphic>
      </p:graphicFrame>
      <p:sp>
        <p:nvSpPr>
          <p:cNvPr id="6" name="TextBox 5"/>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7" name="TextBox 6"/>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822960"/>
          </a:xfrm>
          <a:prstGeom prst="rect">
            <a:avLst/>
          </a:prstGeom>
          <a:solidFill>
            <a:srgbClr val="1532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 y="73152"/>
            <a:ext cx="11430000" cy="411480"/>
          </a:xfrm>
          <a:prstGeom prst="rect">
            <a:avLst/>
          </a:prstGeom>
          <a:noFill/>
        </p:spPr>
        <p:txBody>
          <a:bodyPr wrap="square">
            <a:spAutoFit/>
          </a:bodyPr>
          <a:lstStyle/>
          <a:p>
            <a:pPr algn="l"/>
            <a:r>
              <a:rPr sz="2000" b="1">
                <a:solidFill>
                  <a:srgbClr val="FFFFFF"/>
                </a:solidFill>
                <a:latin typeface="Calibri"/>
              </a:rPr>
              <a:t>Audit Trail &amp; Methodology</a:t>
            </a:r>
          </a:p>
        </p:txBody>
      </p:sp>
      <p:sp>
        <p:nvSpPr>
          <p:cNvPr id="4" name="TextBox 3"/>
          <p:cNvSpPr txBox="1"/>
          <p:nvPr/>
        </p:nvSpPr>
        <p:spPr>
          <a:xfrm>
            <a:off x="182880" y="475488"/>
            <a:ext cx="11430000" cy="320040"/>
          </a:xfrm>
          <a:prstGeom prst="rect">
            <a:avLst/>
          </a:prstGeom>
          <a:noFill/>
        </p:spPr>
        <p:txBody>
          <a:bodyPr wrap="square">
            <a:spAutoFit/>
          </a:bodyPr>
          <a:lstStyle/>
          <a:p>
            <a:pPr algn="l"/>
            <a:r>
              <a:rPr sz="1000" b="0">
                <a:solidFill>
                  <a:srgbClr val="B0C4D8"/>
                </a:solidFill>
                <a:latin typeface="Calibri"/>
              </a:rPr>
              <a:t>Traceable record of all actions, extractions, comparisons, and exports</a:t>
            </a:r>
          </a:p>
        </p:txBody>
      </p:sp>
      <p:sp>
        <p:nvSpPr>
          <p:cNvPr id="5" name="TextBox 4"/>
          <p:cNvSpPr txBox="1"/>
          <p:nvPr/>
        </p:nvSpPr>
        <p:spPr>
          <a:xfrm>
            <a:off x="274320" y="914400"/>
            <a:ext cx="11430000" cy="1097280"/>
          </a:xfrm>
          <a:prstGeom prst="rect">
            <a:avLst/>
          </a:prstGeom>
          <a:noFill/>
        </p:spPr>
        <p:txBody>
          <a:bodyPr wrap="square">
            <a:spAutoFit/>
          </a:bodyPr>
          <a:lstStyle/>
          <a:p>
            <a:pPr algn="l"/>
            <a:r>
              <a:rPr sz="950" b="0">
                <a:solidFill>
                  <a:srgbClr val="15324A"/>
                </a:solidFill>
                <a:latin typeface="Calibri"/>
              </a:rPr>
              <a:t>Source trials retrieved from ClinicalTrials.gov registry (API v2).  Cohort selection uses ten PICO-aligned design dimensions (study type, phase, allocation, masking, intervention model, primary endpoint, intervention type, population, comparator, primary purpose) — sponsor is intentionally excluded.  Protocol fields were extracted from uploaded documents using section-aware LLM chunking across the full document.  All outputs are decision-support intelligence — they do not replace clinical, statistical, operational, or regulatory judgment.</a:t>
            </a:r>
          </a:p>
        </p:txBody>
      </p:sp>
      <p:graphicFrame>
        <p:nvGraphicFramePr>
          <p:cNvPr id="6" name="Table 5"/>
          <p:cNvGraphicFramePr>
            <a:graphicFrameLocks noGrp="1"/>
          </p:cNvGraphicFramePr>
          <p:nvPr/>
        </p:nvGraphicFramePr>
        <p:xfrm>
          <a:off x="228600" y="2103120"/>
          <a:ext cx="11704320" cy="4297680"/>
        </p:xfrm>
        <a:graphic>
          <a:graphicData uri="http://schemas.openxmlformats.org/drawingml/2006/table">
            <a:tbl>
              <a:tblPr firstRow="1" bandRow="1">
                <a:tableStyleId>{5C22544A-7EE6-4342-B048-85BDC9FD1C3A}</a:tableStyleId>
              </a:tblPr>
              <a:tblGrid>
                <a:gridCol w="2926080"/>
                <a:gridCol w="2926080"/>
                <a:gridCol w="2926080"/>
                <a:gridCol w="2926080"/>
              </a:tblGrid>
              <a:tr h="537210">
                <a:tc>
                  <a:txBody>
                    <a:bodyPr/>
                    <a:lstStyle/>
                    <a:p>
                      <a:pPr algn="ctr"/>
                      <a:r>
                        <a:rPr b="1" sz="750">
                          <a:solidFill>
                            <a:srgbClr val="FFFFFF"/>
                          </a:solidFill>
                          <a:latin typeface="Calibri"/>
                        </a:rPr>
                        <a:t>Timestamp</a:t>
                      </a:r>
                    </a:p>
                  </a:txBody>
                  <a:tcPr>
                    <a:solidFill>
                      <a:srgbClr val="15324A"/>
                    </a:solidFill>
                  </a:tcPr>
                </a:tc>
                <a:tc>
                  <a:txBody>
                    <a:bodyPr/>
                    <a:lstStyle/>
                    <a:p>
                      <a:pPr algn="ctr"/>
                      <a:r>
                        <a:rPr b="1" sz="750">
                          <a:solidFill>
                            <a:srgbClr val="FFFFFF"/>
                          </a:solidFill>
                          <a:latin typeface="Calibri"/>
                        </a:rPr>
                        <a:t>Action</a:t>
                      </a:r>
                    </a:p>
                  </a:txBody>
                  <a:tcPr>
                    <a:solidFill>
                      <a:srgbClr val="15324A"/>
                    </a:solidFill>
                  </a:tcPr>
                </a:tc>
                <a:tc>
                  <a:txBody>
                    <a:bodyPr/>
                    <a:lstStyle/>
                    <a:p>
                      <a:pPr algn="ctr"/>
                      <a:r>
                        <a:rPr b="1" sz="750">
                          <a:solidFill>
                            <a:srgbClr val="FFFFFF"/>
                          </a:solidFill>
                          <a:latin typeface="Calibri"/>
                        </a:rPr>
                        <a:t>Actor</a:t>
                      </a:r>
                    </a:p>
                  </a:txBody>
                  <a:tcPr>
                    <a:solidFill>
                      <a:srgbClr val="15324A"/>
                    </a:solidFill>
                  </a:tcPr>
                </a:tc>
                <a:tc>
                  <a:txBody>
                    <a:bodyPr/>
                    <a:lstStyle/>
                    <a:p>
                      <a:pPr algn="ctr"/>
                      <a:r>
                        <a:rPr b="1" sz="750">
                          <a:solidFill>
                            <a:srgbClr val="FFFFFF"/>
                          </a:solidFill>
                          <a:latin typeface="Calibri"/>
                        </a:rPr>
                        <a:t>Details</a:t>
                      </a:r>
                    </a:p>
                  </a:txBody>
                  <a:tcPr>
                    <a:solidFill>
                      <a:srgbClr val="15324A"/>
                    </a:solidFill>
                  </a:tcPr>
                </a:tc>
              </a:tr>
              <a:tr h="537210">
                <a:tc>
                  <a:txBody>
                    <a:bodyPr/>
                    <a:lstStyle/>
                    <a:p>
                      <a:pPr algn="l"/>
                      <a:r>
                        <a:rPr sz="750">
                          <a:solidFill>
                            <a:srgbClr val="15324A"/>
                          </a:solidFill>
                          <a:latin typeface="Calibri"/>
                        </a:rPr>
                        <a:t>2026-03-19T17:53:52</a:t>
                      </a:r>
                    </a:p>
                  </a:txBody>
                  <a:tcPr>
                    <a:solidFill>
                      <a:srgbClr val="FFFFFF"/>
                    </a:solidFill>
                  </a:tcPr>
                </a:tc>
                <a:tc>
                  <a:txBody>
                    <a:bodyPr/>
                    <a:lstStyle/>
                    <a:p>
                      <a:pPr algn="l"/>
                      <a:r>
                        <a:rPr sz="750">
                          <a:solidFill>
                            <a:srgbClr val="15324A"/>
                          </a:solidFill>
                          <a:latin typeface="Calibri"/>
                        </a:rPr>
                        <a:t>Extract Protocol Profile</a:t>
                      </a:r>
                    </a:p>
                  </a:txBody>
                  <a:tcPr>
                    <a:solidFill>
                      <a:srgbClr val="FFFFFF"/>
                    </a:solidFill>
                  </a:tcPr>
                </a:tc>
                <a:tc>
                  <a:txBody>
                    <a:bodyPr/>
                    <a:lstStyle/>
                    <a:p>
                      <a:pPr algn="l"/>
                      <a:r>
                        <a:rPr sz="750">
                          <a:solidFill>
                            <a:srgbClr val="15324A"/>
                          </a:solidFill>
                          <a:latin typeface="Calibri"/>
                        </a:rPr>
                        <a:t>System</a:t>
                      </a:r>
                    </a:p>
                  </a:txBody>
                  <a:tcPr>
                    <a:solidFill>
                      <a:srgbClr val="FFFFFF"/>
                    </a:solidFill>
                  </a:tcPr>
                </a:tc>
                <a:tc>
                  <a:txBody>
                    <a:bodyPr/>
                    <a:lstStyle/>
                    <a:p>
                      <a:pPr algn="l"/>
                      <a:r>
                        <a:rPr sz="750">
                          <a:solidFill>
                            <a:srgbClr val="15324A"/>
                          </a:solidFill>
                          <a:latin typeface="Calibri"/>
                        </a:rPr>
                        <a:t>Extracted protocol profile from Prot_002.pdf.</a:t>
                      </a:r>
                    </a:p>
                  </a:txBody>
                  <a:tcPr>
                    <a:solidFill>
                      <a:srgbClr val="FFFFFF"/>
                    </a:solidFill>
                  </a:tcPr>
                </a:tc>
              </a:tr>
              <a:tr h="537210">
                <a:tc>
                  <a:txBody>
                    <a:bodyPr/>
                    <a:lstStyle/>
                    <a:p>
                      <a:pPr algn="l"/>
                      <a:r>
                        <a:rPr sz="750">
                          <a:solidFill>
                            <a:srgbClr val="15324A"/>
                          </a:solidFill>
                          <a:latin typeface="Calibri"/>
                        </a:rPr>
                        <a:t>2026-03-19T17:54:28</a:t>
                      </a:r>
                    </a:p>
                  </a:txBody>
                  <a:tcPr>
                    <a:solidFill>
                      <a:srgbClr val="EDF3F7"/>
                    </a:solidFill>
                  </a:tcPr>
                </a:tc>
                <a:tc>
                  <a:txBody>
                    <a:bodyPr/>
                    <a:lstStyle/>
                    <a:p>
                      <a:pPr algn="l"/>
                      <a:r>
                        <a:rPr sz="750">
                          <a:solidFill>
                            <a:srgbClr val="15324A"/>
                          </a:solidFill>
                          <a:latin typeface="Calibri"/>
                        </a:rPr>
                        <a:t>Review Protocol Profile</a:t>
                      </a:r>
                    </a:p>
                  </a:txBody>
                  <a:tcPr>
                    <a:solidFill>
                      <a:srgbClr val="EDF3F7"/>
                    </a:solidFill>
                  </a:tcPr>
                </a:tc>
                <a:tc>
                  <a:txBody>
                    <a:bodyPr/>
                    <a:lstStyle/>
                    <a:p>
                      <a:pPr algn="l"/>
                      <a:r>
                        <a:rPr sz="750">
                          <a:solidFill>
                            <a:srgbClr val="15324A"/>
                          </a:solidFill>
                          <a:latin typeface="Calibri"/>
                        </a:rPr>
                        <a:t>User</a:t>
                      </a:r>
                    </a:p>
                  </a:txBody>
                  <a:tcPr>
                    <a:solidFill>
                      <a:srgbClr val="EDF3F7"/>
                    </a:solidFill>
                  </a:tcPr>
                </a:tc>
                <a:tc>
                  <a:txBody>
                    <a:bodyPr/>
                    <a:lstStyle/>
                    <a:p>
                      <a:pPr algn="l"/>
                      <a:r>
                        <a:rPr sz="750">
                          <a:solidFill>
                            <a:srgbClr val="15324A"/>
                          </a:solidFill>
                          <a:latin typeface="Calibri"/>
                        </a:rPr>
                        <a:t>Reviewer confirmed and saved protocol profile fields.</a:t>
                      </a:r>
                    </a:p>
                  </a:txBody>
                  <a:tcPr>
                    <a:solidFill>
                      <a:srgbClr val="EDF3F7"/>
                    </a:solidFill>
                  </a:tcPr>
                </a:tc>
              </a:tr>
              <a:tr h="537210">
                <a:tc>
                  <a:txBody>
                    <a:bodyPr/>
                    <a:lstStyle/>
                    <a:p>
                      <a:pPr algn="l"/>
                      <a:r>
                        <a:rPr sz="750">
                          <a:solidFill>
                            <a:srgbClr val="15324A"/>
                          </a:solidFill>
                          <a:latin typeface="Calibri"/>
                        </a:rPr>
                        <a:t>2026-03-19T17:54:43</a:t>
                      </a:r>
                    </a:p>
                  </a:txBody>
                  <a:tcPr>
                    <a:solidFill>
                      <a:srgbClr val="FFFFFF"/>
                    </a:solidFill>
                  </a:tcPr>
                </a:tc>
                <a:tc>
                  <a:txBody>
                    <a:bodyPr/>
                    <a:lstStyle/>
                    <a:p>
                      <a:pPr algn="l"/>
                      <a:r>
                        <a:rPr sz="750">
                          <a:solidFill>
                            <a:srgbClr val="15324A"/>
                          </a:solidFill>
                          <a:latin typeface="Calibri"/>
                        </a:rPr>
                        <a:t>Build Design Similar Cohort</a:t>
                      </a:r>
                    </a:p>
                  </a:txBody>
                  <a:tcPr>
                    <a:solidFill>
                      <a:srgbClr val="FFFFFF"/>
                    </a:solidFill>
                  </a:tcPr>
                </a:tc>
                <a:tc>
                  <a:txBody>
                    <a:bodyPr/>
                    <a:lstStyle/>
                    <a:p>
                      <a:pPr algn="l"/>
                      <a:r>
                        <a:rPr sz="750">
                          <a:solidFill>
                            <a:srgbClr val="15324A"/>
                          </a:solidFill>
                          <a:latin typeface="Calibri"/>
                        </a:rPr>
                        <a:t>System</a:t>
                      </a:r>
                    </a:p>
                  </a:txBody>
                  <a:tcPr>
                    <a:solidFill>
                      <a:srgbClr val="FFFFFF"/>
                    </a:solidFill>
                  </a:tcPr>
                </a:tc>
                <a:tc>
                  <a:txBody>
                    <a:bodyPr/>
                    <a:lstStyle/>
                    <a:p>
                      <a:pPr algn="l"/>
                      <a:r>
                        <a:rPr sz="750">
                          <a:solidFill>
                            <a:srgbClr val="15324A"/>
                          </a:solidFill>
                          <a:latin typeface="Calibri"/>
                        </a:rPr>
                        <a:t>Fetched 1000 condition-matched trials for 'Asthma'.  Design similarity filter se</a:t>
                      </a:r>
                    </a:p>
                  </a:txBody>
                  <a:tcPr>
                    <a:solidFill>
                      <a:srgbClr val="FFFFFF"/>
                    </a:solidFill>
                  </a:tcPr>
                </a:tc>
              </a:tr>
              <a:tr h="537210">
                <a:tc>
                  <a:txBody>
                    <a:bodyPr/>
                    <a:lstStyle/>
                    <a:p>
                      <a:pPr algn="l"/>
                      <a:r>
                        <a:rPr sz="750">
                          <a:solidFill>
                            <a:srgbClr val="15324A"/>
                          </a:solidFill>
                          <a:latin typeface="Calibri"/>
                        </a:rPr>
                        <a:t>2026-03-19T17:56:19</a:t>
                      </a:r>
                    </a:p>
                  </a:txBody>
                  <a:tcPr>
                    <a:solidFill>
                      <a:srgbClr val="EDF3F7"/>
                    </a:solidFill>
                  </a:tcPr>
                </a:tc>
                <a:tc>
                  <a:txBody>
                    <a:bodyPr/>
                    <a:lstStyle/>
                    <a:p>
                      <a:pPr algn="l"/>
                      <a:r>
                        <a:rPr sz="750">
                          <a:solidFill>
                            <a:srgbClr val="15324A"/>
                          </a:solidFill>
                          <a:latin typeface="Calibri"/>
                        </a:rPr>
                        <a:t>Export Pdf Report</a:t>
                      </a:r>
                    </a:p>
                  </a:txBody>
                  <a:tcPr>
                    <a:solidFill>
                      <a:srgbClr val="EDF3F7"/>
                    </a:solidFill>
                  </a:tcPr>
                </a:tc>
                <a:tc>
                  <a:txBody>
                    <a:bodyPr/>
                    <a:lstStyle/>
                    <a:p>
                      <a:pPr algn="l"/>
                      <a:r>
                        <a:rPr sz="750">
                          <a:solidFill>
                            <a:srgbClr val="15324A"/>
                          </a:solidFill>
                          <a:latin typeface="Calibri"/>
                        </a:rPr>
                        <a:t>System</a:t>
                      </a:r>
                    </a:p>
                  </a:txBody>
                  <a:tcPr>
                    <a:solidFill>
                      <a:srgbClr val="EDF3F7"/>
                    </a:solidFill>
                  </a:tcPr>
                </a:tc>
                <a:tc>
                  <a:txBody>
                    <a:bodyPr/>
                    <a:lstStyle/>
                    <a:p>
                      <a:pPr algn="l"/>
                      <a:r>
                        <a:rPr sz="750">
                          <a:solidFill>
                            <a:srgbClr val="15324A"/>
                          </a:solidFill>
                          <a:latin typeface="Calibri"/>
                        </a:rPr>
                        <a:t>Generated trial_protocol_report.pdf.</a:t>
                      </a:r>
                    </a:p>
                  </a:txBody>
                  <a:tcPr>
                    <a:solidFill>
                      <a:srgbClr val="EDF3F7"/>
                    </a:solidFill>
                  </a:tcPr>
                </a:tc>
              </a:tr>
              <a:tr h="537210">
                <a:tc>
                  <a:txBody>
                    <a:bodyPr/>
                    <a:lstStyle/>
                    <a:p>
                      <a:pPr algn="l"/>
                      <a:r>
                        <a:rPr sz="750">
                          <a:solidFill>
                            <a:srgbClr val="15324A"/>
                          </a:solidFill>
                          <a:latin typeface="Calibri"/>
                        </a:rPr>
                        <a:t>2026-03-19T17:56:46</a:t>
                      </a:r>
                    </a:p>
                  </a:txBody>
                  <a:tcPr>
                    <a:solidFill>
                      <a:srgbClr val="FFFFFF"/>
                    </a:solidFill>
                  </a:tcPr>
                </a:tc>
                <a:tc>
                  <a:txBody>
                    <a:bodyPr/>
                    <a:lstStyle/>
                    <a:p>
                      <a:pPr algn="l"/>
                      <a:r>
                        <a:rPr sz="750">
                          <a:solidFill>
                            <a:srgbClr val="15324A"/>
                          </a:solidFill>
                          <a:latin typeface="Calibri"/>
                        </a:rPr>
                        <a:t>Fetch Pubmed Evidence</a:t>
                      </a:r>
                    </a:p>
                  </a:txBody>
                  <a:tcPr>
                    <a:solidFill>
                      <a:srgbClr val="FFFFFF"/>
                    </a:solidFill>
                  </a:tcPr>
                </a:tc>
                <a:tc>
                  <a:txBody>
                    <a:bodyPr/>
                    <a:lstStyle/>
                    <a:p>
                      <a:pPr algn="l"/>
                      <a:r>
                        <a:rPr sz="750">
                          <a:solidFill>
                            <a:srgbClr val="15324A"/>
                          </a:solidFill>
                          <a:latin typeface="Calibri"/>
                        </a:rPr>
                        <a:t>System</a:t>
                      </a:r>
                    </a:p>
                  </a:txBody>
                  <a:tcPr>
                    <a:solidFill>
                      <a:srgbClr val="FFFFFF"/>
                    </a:solidFill>
                  </a:tcPr>
                </a:tc>
                <a:tc>
                  <a:txBody>
                    <a:bodyPr/>
                    <a:lstStyle/>
                    <a:p>
                      <a:pPr algn="l"/>
                      <a:r>
                        <a:rPr sz="750">
                          <a:solidFill>
                            <a:srgbClr val="15324A"/>
                          </a:solidFill>
                          <a:latin typeface="Calibri"/>
                        </a:rPr>
                        <a:t>Retrieved 8 PubMed articles for 'Asthma'.</a:t>
                      </a:r>
                    </a:p>
                  </a:txBody>
                  <a:tcPr>
                    <a:solidFill>
                      <a:srgbClr val="FFFFFF"/>
                    </a:solidFill>
                  </a:tcPr>
                </a:tc>
              </a:tr>
              <a:tr h="537210">
                <a:tc>
                  <a:txBody>
                    <a:bodyPr/>
                    <a:lstStyle/>
                    <a:p>
                      <a:pPr algn="l"/>
                      <a:r>
                        <a:rPr sz="750">
                          <a:solidFill>
                            <a:srgbClr val="15324A"/>
                          </a:solidFill>
                          <a:latin typeface="Calibri"/>
                        </a:rPr>
                        <a:t>2026-03-19T17:56:59</a:t>
                      </a:r>
                    </a:p>
                  </a:txBody>
                  <a:tcPr>
                    <a:solidFill>
                      <a:srgbClr val="EDF3F7"/>
                    </a:solidFill>
                  </a:tcPr>
                </a:tc>
                <a:tc>
                  <a:txBody>
                    <a:bodyPr/>
                    <a:lstStyle/>
                    <a:p>
                      <a:pPr algn="l"/>
                      <a:r>
                        <a:rPr sz="750">
                          <a:solidFill>
                            <a:srgbClr val="15324A"/>
                          </a:solidFill>
                          <a:latin typeface="Calibri"/>
                        </a:rPr>
                        <a:t>Export Pdf Report</a:t>
                      </a:r>
                    </a:p>
                  </a:txBody>
                  <a:tcPr>
                    <a:solidFill>
                      <a:srgbClr val="EDF3F7"/>
                    </a:solidFill>
                  </a:tcPr>
                </a:tc>
                <a:tc>
                  <a:txBody>
                    <a:bodyPr/>
                    <a:lstStyle/>
                    <a:p>
                      <a:pPr algn="l"/>
                      <a:r>
                        <a:rPr sz="750">
                          <a:solidFill>
                            <a:srgbClr val="15324A"/>
                          </a:solidFill>
                          <a:latin typeface="Calibri"/>
                        </a:rPr>
                        <a:t>System</a:t>
                      </a:r>
                    </a:p>
                  </a:txBody>
                  <a:tcPr>
                    <a:solidFill>
                      <a:srgbClr val="EDF3F7"/>
                    </a:solidFill>
                  </a:tcPr>
                </a:tc>
                <a:tc>
                  <a:txBody>
                    <a:bodyPr/>
                    <a:lstStyle/>
                    <a:p>
                      <a:pPr algn="l"/>
                      <a:r>
                        <a:rPr sz="750">
                          <a:solidFill>
                            <a:srgbClr val="15324A"/>
                          </a:solidFill>
                          <a:latin typeface="Calibri"/>
                        </a:rPr>
                        <a:t>Generated trial_protocol_report.pdf.</a:t>
                      </a:r>
                    </a:p>
                  </a:txBody>
                  <a:tcPr>
                    <a:solidFill>
                      <a:srgbClr val="EDF3F7"/>
                    </a:solidFill>
                  </a:tcPr>
                </a:tc>
              </a:tr>
              <a:tr h="537210">
                <a:tc>
                  <a:txBody>
                    <a:bodyPr/>
                    <a:lstStyle/>
                    <a:p>
                      <a:pPr algn="l"/>
                      <a:r>
                        <a:rPr sz="750">
                          <a:solidFill>
                            <a:srgbClr val="15324A"/>
                          </a:solidFill>
                          <a:latin typeface="Calibri"/>
                        </a:rPr>
                        <a:t>2026-03-19T18:05:11</a:t>
                      </a:r>
                    </a:p>
                  </a:txBody>
                  <a:tcPr>
                    <a:solidFill>
                      <a:srgbClr val="FFFFFF"/>
                    </a:solidFill>
                  </a:tcPr>
                </a:tc>
                <a:tc>
                  <a:txBody>
                    <a:bodyPr/>
                    <a:lstStyle/>
                    <a:p>
                      <a:pPr algn="l"/>
                      <a:r>
                        <a:rPr sz="750">
                          <a:solidFill>
                            <a:srgbClr val="15324A"/>
                          </a:solidFill>
                          <a:latin typeface="Calibri"/>
                        </a:rPr>
                        <a:t>Export Pptx Slides</a:t>
                      </a:r>
                    </a:p>
                  </a:txBody>
                  <a:tcPr>
                    <a:solidFill>
                      <a:srgbClr val="FFFFFF"/>
                    </a:solidFill>
                  </a:tcPr>
                </a:tc>
                <a:tc>
                  <a:txBody>
                    <a:bodyPr/>
                    <a:lstStyle/>
                    <a:p>
                      <a:pPr algn="l"/>
                      <a:r>
                        <a:rPr sz="750">
                          <a:solidFill>
                            <a:srgbClr val="15324A"/>
                          </a:solidFill>
                          <a:latin typeface="Calibri"/>
                        </a:rPr>
                        <a:t>System</a:t>
                      </a:r>
                    </a:p>
                  </a:txBody>
                  <a:tcPr>
                    <a:solidFill>
                      <a:srgbClr val="FFFFFF"/>
                    </a:solidFill>
                  </a:tcPr>
                </a:tc>
                <a:tc>
                  <a:txBody>
                    <a:bodyPr/>
                    <a:lstStyle/>
                    <a:p>
                      <a:pPr algn="l"/>
                      <a:r>
                        <a:rPr sz="750">
                          <a:solidFill>
                            <a:srgbClr val="15324A"/>
                          </a:solidFill>
                          <a:latin typeface="Calibri"/>
                        </a:rPr>
                        <a:t>Generated trial_protocol_slides.pptx.</a:t>
                      </a:r>
                    </a:p>
                  </a:txBody>
                  <a:tcPr>
                    <a:solidFill>
                      <a:srgbClr val="FFFFFF"/>
                    </a:solidFill>
                  </a:tcPr>
                </a:tc>
              </a:tr>
            </a:tbl>
          </a:graphicData>
        </a:graphic>
      </p:graphicFrame>
      <p:sp>
        <p:nvSpPr>
          <p:cNvPr id="7" name="TextBox 6"/>
          <p:cNvSpPr txBox="1"/>
          <p:nvPr/>
        </p:nvSpPr>
        <p:spPr>
          <a:xfrm>
            <a:off x="182880" y="6583680"/>
            <a:ext cx="8229600" cy="228600"/>
          </a:xfrm>
          <a:prstGeom prst="rect">
            <a:avLst/>
          </a:prstGeom>
          <a:noFill/>
        </p:spPr>
        <p:txBody>
          <a:bodyPr wrap="square">
            <a:spAutoFit/>
          </a:bodyPr>
          <a:lstStyle/>
          <a:p>
            <a:pPr algn="l"/>
            <a:r>
              <a:rPr sz="700" b="0">
                <a:solidFill>
                  <a:srgbClr val="5F6B7A"/>
                </a:solidFill>
                <a:latin typeface="Calibri"/>
              </a:rPr>
              <a:t>Trial Design Explorer | Clinical Trial Planning Intelligence | Confidential draft</a:t>
            </a:r>
          </a:p>
        </p:txBody>
      </p:sp>
      <p:sp>
        <p:nvSpPr>
          <p:cNvPr id="8" name="TextBox 7"/>
          <p:cNvSpPr txBox="1"/>
          <p:nvPr/>
        </p:nvSpPr>
        <p:spPr>
          <a:xfrm>
            <a:off x="11247120" y="6583680"/>
            <a:ext cx="914400" cy="228600"/>
          </a:xfrm>
          <a:prstGeom prst="rect">
            <a:avLst/>
          </a:prstGeom>
          <a:noFill/>
        </p:spPr>
        <p:txBody>
          <a:bodyPr wrap="square">
            <a:spAutoFit/>
          </a:bodyPr>
          <a:lstStyle/>
          <a:p>
            <a:pPr algn="r"/>
            <a:r>
              <a:rPr sz="700" b="0">
                <a:solidFill>
                  <a:srgbClr val="5F6B7A"/>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