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Protocol Intelligence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Calibri"/>
              </a:rPr>
              <a:t>Clinical Trial Design Benchmarking &amp; Decision-Grade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06040"/>
            <a:ext cx="9601200" cy="1905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0"/>
                </a:solidFill>
                <a:latin typeface="Calibri"/>
              </a:rPr>
              <a:t>Protocol:  Randomised clinical trial comparing drug-coated balloon to plain balloon for all peripheral AVF stenosis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186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0"/>
                </a:solidFill>
                <a:latin typeface="Calibri"/>
              </a:rPr>
              <a:t>Condition: Peripheral AVF stenosis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027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0"/>
                </a:solidFill>
                <a:latin typeface="Calibri"/>
              </a:rPr>
              <a:t>Sponsor:   Boston Scientific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867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0"/>
                </a:solidFill>
                <a:latin typeface="Calibri"/>
              </a:rPr>
              <a:t>Phase:     Phase 3  |  Study type: Interventional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3708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0"/>
                </a:solidFill>
                <a:latin typeface="Calibri"/>
              </a:rPr>
              <a:t>Generated: 2026-03-19T08:04:53.357367Z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Confidential — prepared for clinical development, trial design, and operational planning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Top-line read on precedent posture, evidence strength, and lead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743200" cy="100584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Cohort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743200" cy="100584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Completed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38.6%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2743200" cy="1005840"/>
          </a:xfrm>
          <a:prstGeom prst="rect">
            <a:avLst/>
          </a:prstGeom>
          <a:solidFill>
            <a:srgbClr val="C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Disrupted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64.3%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914400"/>
            <a:ext cx="2743200" cy="100584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057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324A"/>
                </a:solidFill>
                <a:latin typeface="Calibri"/>
              </a:rPr>
              <a:t>Overall posture: Closer to disrupted precedent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505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Protocol: Randomised clinical trial comparing drug-coated balloon to plain balloon for all peripheral AVF stenosis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16352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9806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Clinical focus: Peripheral AVF stenosis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63824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4553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Design fit vs completed precedent: 38.6%  |  vs disrupted: 64.3%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11296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930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[High] Revisit the allocation strategy or document why the current choice remains defensible.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58768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[High] Reassess the masking plan and explicitly document any trade-off between feasibility and evidence credibility.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54864" cy="201168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879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324A"/>
                </a:solidFill>
                <a:latin typeface="Calibri"/>
              </a:rPr>
              <a:t>[High] Rework the draft so it aligns more closely with completed-trial precedent before sign-off.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Precedent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How the draft design compares to completed vs disrupted trial precedent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0" y="1005840"/>
            <a:ext cx="914400" cy="50292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0789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Completed 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691640"/>
            <a:ext cx="914400" cy="502920"/>
          </a:xfrm>
          <a:prstGeom prst="rect">
            <a:avLst/>
          </a:prstGeom>
          <a:solidFill>
            <a:srgbClr val="C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764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Disrupted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77440"/>
            <a:ext cx="914400" cy="50292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450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-25.7%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Net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063240"/>
            <a:ext cx="914400" cy="50292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1363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Evidence strength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749040"/>
            <a:ext cx="914400" cy="502920"/>
          </a:xfrm>
          <a:prstGeom prst="rect">
            <a:avLst/>
          </a:prstGeom>
          <a:solidFill>
            <a:srgbClr val="1F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8221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Completed studies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434840"/>
            <a:ext cx="914400" cy="502920"/>
          </a:xfrm>
          <a:prstGeom prst="rect">
            <a:avLst/>
          </a:prstGeom>
          <a:solidFill>
            <a:srgbClr val="C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5079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324A"/>
                </a:solidFill>
                <a:latin typeface="Calibri"/>
              </a:rPr>
              <a:t>Disrupted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Domain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Alignment across 7 design domains — completed vs disrupted precedent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914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324A"/>
                </a:solidFill>
                <a:latin typeface="Calibri"/>
              </a:rPr>
              <a:t>Domain signals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280160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353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Phase: Phase 3 — Weak precedent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01952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975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Study Type: Interventional — Closer to disrupted precedent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523744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5968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Allocation: Randomized — Closer to disrupted precedent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145536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3218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Masking: Single — Closer to disrupted precedent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767328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840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Intervention Model: Parallel Assignment — Weak precedent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389120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462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Primary Purpose: Treatment — Closer to disrupted precedent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010912"/>
            <a:ext cx="5029200" cy="50292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0840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Calibri"/>
              </a:rPr>
              <a:t>Endpoint Focus: Other — Mixed precedent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Enrollment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Protocol target vs completed and disrupted precedent IQR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6858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914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324A"/>
                </a:solidFill>
                <a:latin typeface="Calibri"/>
              </a:rPr>
              <a:t>Key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280160"/>
            <a:ext cx="4389120" cy="59436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30759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Protocol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554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29968"/>
            <a:ext cx="4389120" cy="59436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0574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Completed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B7A"/>
                </a:solidFill>
                <a:latin typeface="Calibri"/>
              </a:rPr>
              <a:t>95.0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779776"/>
            <a:ext cx="4389120" cy="59436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80720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Completed P25–P75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0540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B7A"/>
                </a:solidFill>
                <a:latin typeface="Calibri"/>
              </a:rPr>
              <a:t>59.2 – 157.0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529584"/>
            <a:ext cx="4389120" cy="59436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355701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Disrupted 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8039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563D"/>
                </a:solidFill>
                <a:latin typeface="Calibri"/>
              </a:rPr>
              <a:t>61.5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4279392"/>
            <a:ext cx="4389120" cy="59436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430682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Disrupted P25–P75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553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563D"/>
                </a:solidFill>
                <a:latin typeface="Calibri"/>
              </a:rPr>
              <a:t>34.8 – 88.2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Trial Duration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Planned duration vs completed and disrupted precedent cohort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7724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324A"/>
                </a:solidFill>
                <a:latin typeface="Calibri"/>
              </a:rPr>
              <a:t>Duration stats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3657600" cy="64008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3167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Protocol plan (mo)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581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n/a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03120"/>
            <a:ext cx="3657600" cy="64008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1396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Completed median (mo)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404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B7A"/>
                </a:solidFill>
                <a:latin typeface="Calibri"/>
              </a:rPr>
              <a:t>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926080"/>
            <a:ext cx="3657600" cy="640080"/>
          </a:xfrm>
          <a:prstGeom prst="rect">
            <a:avLst/>
          </a:prstGeom>
          <a:solidFill>
            <a:srgbClr val="EDF3F7"/>
          </a:solidFill>
          <a:ln w="635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9626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Disrupted median (mo)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227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563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Differential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Domain-level protocol choice vs completed and disrupted precedent match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Action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Priority-ordered design decisions, clarifications, and risk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868680"/>
          <a:ext cx="117043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64"/>
                <a:gridCol w="2340864"/>
                <a:gridCol w="2340864"/>
                <a:gridCol w="2340864"/>
                <a:gridCol w="2340864"/>
              </a:tblGrid>
              <a:tr h="809897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Action Type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Revisit the allocation strategy or document why the current choice remains defen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match 50.0% versus disrupted match 100.0%.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Masking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Reassess the masking plan and explicitly document any trade-off between feasibil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match 20.0% versus disrupted match 50.0%.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Overall design posture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Rework the draft so it aligns more closely with completed-trial precedent 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fit 38.6% versus disrupted fit 64.3%.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Primary Purpose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Tighten the primary purpose framing so the design and endpoint package read as c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match 50.0% versus disrupted match 100.0%.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Study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Pressure-test whether the study type is the strongest route for the program deci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match 60.0% versus disrupted match 100.0%.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989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Evidence strength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Treat the benchmark output as directional until the comparator evidence base is 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Total matched studies 19; completed 10; disrupted 2.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Endpoint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Endpoint category prevalence in completed vs disrupted precedent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91440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Literature Evidence (PubMed)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Peer-reviewed studies supporting the design rationale — sourced via NCBI PubMed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868680"/>
          <a:ext cx="11704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64"/>
                <a:gridCol w="2340864"/>
                <a:gridCol w="2340864"/>
                <a:gridCol w="2340864"/>
                <a:gridCol w="2340864"/>
              </a:tblGrid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PMID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Authors (first)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36758984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Lindhard K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Nephrology, dialysis, transpla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Far infrared treatment on the arteriovenous fistula induces changes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12566672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Lemson S et al.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2002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Blood purification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Hemodynamics of venous cuff interposition in prosthetic arteriovenous 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F6B7A"/>
                </a:solidFill>
                <a:latin typeface="Calibri"/>
              </a:rPr>
              <a:t>Source: PubMed / NCBI E-utilities (free access). All citations are auditable and traceable.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Comparator Exemplars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  <a:latin typeface="Calibri"/>
              </a:rPr>
              <a:t>Representative completed and disrupted precedent studies from the matched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Calibri"/>
              </a:rPr>
              <a:t>Trial Design Explorer | Clinical Trial Planning Intelligence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Calibri"/>
              </a:rPr>
              <a:t>11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868680"/>
          <a:ext cx="1170432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  <a:gridCol w="1950720"/>
                <a:gridCol w="1950720"/>
                <a:gridCol w="1950720"/>
              </a:tblGrid>
              <a:tr h="61976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Comparator Lens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NCT ID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Enrollment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>
                    <a:solidFill>
                      <a:srgbClr val="15324A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Precedent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NCT05372952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An Investigator Initiated Trial to Evaluate the Safety and Feasibility of the 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Klinikum Arnsberg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Precedent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NCT03270358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OStéopontin as a Marker Of StenoSIS - OSMOSIS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Centre Hospitalier Universitaire de Nice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Precedent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NCT02335099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Determine the Safety/Efficacy of Ticagrelor for Maintaining Patency of Arterio-V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University of Virginia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 Precedent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NCT04226599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 Safety and Efficacy Study of Hemodialysis Arteriovenous Fistulae Stenosis Trea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DK Medical Technology (Suzhou) Co., Ltd.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Disrupted Precedent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Terminated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NCT02224235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COBRA SHIELD OCT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CeloNova BioSciences,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Disrupted Precedent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Terminated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NCT02913274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Arteriovenous Fistulae: Drug-eluting Balloon Angioplasty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Rennes University Hospital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Active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Recruiting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NCT06553443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Randomised Clinical Trial Comparing Drug-coated Balloon to Plain Balloon for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Singapore General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Active Context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Active Not Recruiting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NCT04540302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The Merit WRAPSODY AV Access Efficacy Study (WAVE)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5324A"/>
                          </a:solidFill>
                          <a:latin typeface="Calibri"/>
                        </a:rPr>
                        <a:t>Merit Medical Systems, Inc.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